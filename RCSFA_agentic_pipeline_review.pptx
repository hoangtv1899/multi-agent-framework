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Agentic Multi-Agent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1A6D3"/>
                </a:solidFill>
                <a:latin typeface="Calibri Light"/>
              </a:rPr>
              <a:t>MCP Data Layer · Reception Agent · Planner · Tier-2 Expander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 Light"/>
              </a:rPr>
              <a:t>Technical review — RCSFA multi-agent framework
</a:t>
            </a:r>
            <a:r>
              <a:rPr sz="1300" b="0">
                <a:solidFill>
                  <a:srgbClr val="9FC4DC"/>
                </a:solidFill>
                <a:latin typeface="Calibri Light"/>
              </a:rPr>
              <a:t>Built 2026-06-11  ·  natural-language request → concrete, data-grounded sampling columns  ·  dry (no execution)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three-tier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417320"/>
            <a:ext cx="4846320" cy="749808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49047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3344"/>
                </a:solidFill>
                <a:latin typeface="Calibri"/>
              </a:rPr>
              <a:t>User request 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0136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3344"/>
                </a:solidFill>
                <a:latin typeface="Calibri Light"/>
              </a:rPr>
              <a:t>“…partitioning &amp; drivers in the Naches sub-watershed, validate with obs”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395728"/>
            <a:ext cx="4846320" cy="7498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RECEPTION  (LLM agent + MCP tools)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79776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 Light"/>
              </a:rPr>
              <a:t>classify · pick archetype · gather data · reason → framed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374136"/>
            <a:ext cx="4846320" cy="7498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44728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PLANNER  (LLM)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58184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 Light"/>
              </a:rPr>
              <a:t>design strategy: sampling_plan · validation · requires_capabilities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352544"/>
            <a:ext cx="4846320" cy="749808"/>
          </a:xfrm>
          <a:prstGeom prst="rect">
            <a:avLst/>
          </a:prstGeom>
          <a:solidFill>
            <a:srgbClr val="3A5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425696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TIER-2 EXPANDER  (Python, deterministic)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736592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 Light"/>
              </a:rPr>
              <a:t>real DEM/soil/Fan → concrete (lat,lon)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330952"/>
            <a:ext cx="4846320" cy="749808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5404104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A5A7C"/>
                </a:solidFill>
                <a:latin typeface="Calibri"/>
              </a:rPr>
              <a:t>Tier-3 per-column ELM config  (existing builder)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715000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A5A7C"/>
                </a:solidFill>
                <a:latin typeface="Calibri Light"/>
              </a:rPr>
              <a:t>not yet wired to expander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14884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A6D3"/>
                </a:solidFill>
                <a:latin typeface="Calibri Light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27248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A6D3"/>
                </a:solidFill>
                <a:latin typeface="Calibri Light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0565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A6D3"/>
                </a:solidFill>
                <a:latin typeface="Calibri Light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84064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A6D3"/>
                </a:solidFill>
                <a:latin typeface="Calibri Light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554480"/>
            <a:ext cx="2926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 Light"/>
              </a:rPr>
              <a:t>Tier 1 — LLM
</a:t>
            </a:r>
            <a:r>
              <a:rPr sz="1200" b="0">
                <a:solidFill>
                  <a:srgbClr val="3A5A7C"/>
                </a:solidFill>
                <a:latin typeface="Calibri Light"/>
              </a:rPr>
              <a:t>reasoning &amp; design
</a:t>
            </a:r>
            <a:r>
              <a:rPr sz="1400" b="1">
                <a:solidFill>
                  <a:srgbClr val="3A5A7C"/>
                </a:solidFill>
                <a:latin typeface="Calibri Light"/>
              </a:rPr>
              <a:t>Tier 2 — Python
</a:t>
            </a:r>
            <a:r>
              <a:rPr sz="1200" b="0">
                <a:solidFill>
                  <a:srgbClr val="3A5A7C"/>
                </a:solidFill>
                <a:latin typeface="Calibri Light"/>
              </a:rPr>
              <a:t>deterministic geodata
(no hallucinated coords)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554480"/>
            <a:ext cx="3017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5"/>
                </a:solidFill>
                <a:latin typeface="Calibri Light"/>
              </a:rPr>
              <a:t>Design principle
</a:t>
            </a:r>
            <a:r>
              <a:rPr sz="1200" b="0">
                <a:solidFill>
                  <a:srgbClr val="223344"/>
                </a:solidFill>
                <a:latin typeface="Calibri Light"/>
              </a:rPr>
              <a:t>LLM designs the STRATEGY; Python materializes it against real data; the strict per-column config (Tier 3) stays untouched — so open reasoning never corrupts a model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MCP data layer —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What it is:</a:t>
            </a:r>
            <a:r>
              <a:rPr sz="1500">
                <a:solidFill>
                  <a:srgbClr val="223344"/>
                </a:solidFill>
                <a:latin typeface="Calibri Light"/>
              </a:rPr>
              <a:t> each data source is a standalone MCP server (a small Python process) speaking the Model Context Protocol over stdio.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Config-driven:</a:t>
            </a:r>
            <a:r>
              <a:rPr sz="1500">
                <a:solidFill>
                  <a:srgbClr val="223344"/>
                </a:solidFill>
                <a:latin typeface="Calibri Light"/>
              </a:rPr>
              <a:t> mcp_config.json lists each server (command + args + timeout). Adding a source = one config block + one server file. No core changes.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Plumbing:</a:t>
            </a:r>
            <a:r>
              <a:rPr sz="1500">
                <a:solidFill>
                  <a:srgbClr val="223344"/>
                </a:solidFill>
                <a:latin typeface="Calibri Light"/>
              </a:rPr>
              <a:t> MCPManager loads the config → MCPClient per server. MCPClient opens a fresh stdio session per call (HPC/async-safe), returns parsed JSON.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Tool schema:</a:t>
            </a:r>
            <a:r>
              <a:rPr sz="1500">
                <a:solidFill>
                  <a:srgbClr val="223344"/>
                </a:solidFill>
                <a:latin typeface="Calibri Light"/>
              </a:rPr>
              <a:t> every server exposes typed tools via list_tools(); the agent layer turns these into OpenAI function schemas automatically.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Runtime:</a:t>
            </a:r>
            <a:r>
              <a:rPr sz="1500">
                <a:solidFill>
                  <a:srgbClr val="223344"/>
                </a:solidFill>
                <a:latin typeface="Calibri Light"/>
              </a:rPr>
              <a:t> servers + clients run under module load pytorch/2.8.0 (the env where openai + mcp live). All tools are READ-ONLY data fetches — low risk.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223344"/>
                </a:solidFill>
                <a:latin typeface="Calibri Light"/>
              </a:rPr>
              <a:t>–  5 servers today: weather · geology · usgs_water · terrain · fan_wtd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MCP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five MCP servers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  <a:gridCol w="548640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Key tools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weather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NWS / Open-Meteo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get_climate_summary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geology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USDA SSURGO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get_soil_profile, get_pflotran_materials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point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usgs_water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USGS OGC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get_groundwater_sites, get_water_table_depth,
get_monitoring_locations (streamflow)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bbox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terrain ★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USGS 3DEP + WBD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resolve_watershed, get_elevation,
sample_elevation_grid, elevation_summary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point+bbox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fan_wtd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Fan et al. 2013 (local NetCDF)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get_fan_wtd, sample_fan_wtd, data_status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point+bbox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8A5A"/>
                </a:solidFill>
                <a:latin typeface="Calibri Light"/>
              </a:rPr>
              <a:t>★ built this session.  </a:t>
            </a:r>
            <a:r>
              <a:rPr sz="1200" b="0">
                <a:solidFill>
                  <a:srgbClr val="3A5A7C"/>
                </a:solidFill>
                <a:latin typeface="Calibri Light"/>
              </a:rPr>
              <a:t>terrain + fan_wtd + the groundwater tools on usgs_water close the planner's top data gaps (DEM, watershed boundary, observed &amp; equilibrium water table).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MCP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MCP — key technical decisions &amp; gotchas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Observed WTD via the OGC API, not legacy NWIS:</a:t>
            </a:r>
            <a:r>
              <a:rPr sz="1400">
                <a:solidFill>
                  <a:srgbClr val="223344"/>
                </a:solidFill>
                <a:latin typeface="Calibri Light"/>
              </a:rPr>
              <a:t> waterservices.usgs.gov is unreachable from NERSC (SSL handshake timeout); api.waterdata.usgs.gov works. Depth-to-water = parameter 72019 in the field-measurements collection.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Fan WTD is a static-file server:</a:t>
            </a:r>
            <a:r>
              <a:rPr sz="1400">
                <a:solidFill>
                  <a:srgbClr val="223344"/>
                </a:solidFill>
                <a:latin typeface="Calibri Light"/>
              </a:rPr>
              <a:t> lazy-loads a NAMERICA NetCDF tile (auto-discovered). Handles a time dimension (annual squeeze / monthly mean), applies the land mask, and auto-detects sign — the tiles store WTD negative-below, so it returns a positive depth_to_water_m.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terrain endpoints:</a:t>
            </a:r>
            <a:r>
              <a:rPr sz="1400">
                <a:solidFill>
                  <a:srgbClr val="223344"/>
                </a:solidFill>
                <a:latin typeface="Calibri Light"/>
              </a:rPr>
              <a:t> 3DEP EPQS for point/grid elevation (threaded); WBD ArcGIS REST resolves a HUC code OR name → bbox + area (Naches → HUC 17030002, 2,860.6 km²).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Point vs bbox:</a:t>
            </a:r>
            <a:r>
              <a:rPr sz="1400">
                <a:solidFill>
                  <a:srgbClr val="223344"/>
                </a:solidFill>
                <a:latin typeface="Calibri Light"/>
              </a:rPr>
              <a:t> SSURGO/weather are point-only; watershed work needs bbox/grid sampling → terrain.sample_elevation_grid + fan.sample_fan_wtd are the workhorses.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Coverage is real-world messy:</a:t>
            </a:r>
            <a:r>
              <a:rPr sz="1400">
                <a:solidFill>
                  <a:srgbClr val="223344"/>
                </a:solidFill>
                <a:latin typeface="Calibri Light"/>
              </a:rPr>
              <a:t> a CONUS sweep (12 sites) surfaces gaps — e.g. wells with zero records, ocean/edge no-data — before you design a study there.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RECEPTION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Reception: from scripted bridge → agentic tool-user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The shift:</a:t>
            </a:r>
            <a:r>
              <a:rPr sz="1400">
                <a:solidFill>
                  <a:srgbClr val="223344"/>
                </a:solidFill>
                <a:latin typeface="Calibri Light"/>
              </a:rPr>
              <a:t> earlier, Python mechanically pulled fixed MCP data and the LLM only extracted fields. Now reception is a pure-LLM agent that DRIVES the tools itself and reasons over the results.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Why:</a:t>
            </a:r>
            <a:r>
              <a:rPr sz="1400">
                <a:solidFill>
                  <a:srgbClr val="223344"/>
                </a:solidFill>
                <a:latin typeface="Calibri Light"/>
              </a:rPr>
              <a:t> a scripted bridge can't decide what's relevant (streamflow vs wells vs Fan), can't handle a purely conceptual question, and doesn't use the data to make decisions.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ToolLoopAgent (generic runtime):</a:t>
            </a:r>
            <a:r>
              <a:rPr sz="1400">
                <a:solidFill>
                  <a:srgbClr val="223344"/>
                </a:solidFill>
                <a:latin typeface="Calibri Light"/>
              </a:rPr>
              <a:t> exposes every MCP tool as an OpenAI function named server__tool; loops create(tools=…) → dispatch tool_calls via MCPClient → feed results back → repeat (capped rounds) → return final message + full trace.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No domain logic in Python</a:t>
            </a:r>
            <a:r>
              <a:rPr sz="1400">
                <a:solidFill>
                  <a:srgbClr val="223344"/>
                </a:solidFill>
                <a:latin typeface="Calibri Light"/>
              </a:rPr>
              <a:t> — the loop is pure relay; all 'what to fetch / when to stop' lives in the LLM.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Gateway rule (verified):</a:t>
            </a:r>
            <a:r>
              <a:rPr sz="1400">
                <a:solidFill>
                  <a:srgbClr val="223344"/>
                </a:solidFill>
                <a:latin typeface="Calibri Light"/>
              </a:rPr>
              <a:t> the PNNL endpoint supports function-calling on gpt-5.5, gemini-2.5-flash, claude-opus-4-8, claude-sonnet-4-5 — but tools= must be passed on EVERY request or Bedrock-routed Claude 400s.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RECEPTION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Reception: what the agent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1 · Classify intent:</a:t>
            </a:r>
            <a:r>
              <a:rPr sz="1300">
                <a:solidFill>
                  <a:srgbClr val="223344"/>
                </a:solidFill>
                <a:latin typeface="Calibri Light"/>
              </a:rPr>
              <a:t> clarification_needed · analyze_existing · design.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2 · Pick archetype (for design):</a:t>
            </a:r>
            <a:r>
              <a:rPr sz="1300">
                <a:solidFill>
                  <a:srgbClr val="223344"/>
                </a:solidFill>
                <a:latin typeface="Calibri Light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23344"/>
                </a:solidFill>
                <a:latin typeface="Calibri Light"/>
              </a:rPr>
              <a:t>–  conceptual — mechanism / no real site → call few/no tools (maybe one representative climate)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23344"/>
                </a:solidFill>
                <a:latin typeface="Calibri Light"/>
              </a:rPr>
              <a:t>–  site — tied to a real place → use the tools to resolve the domain + inventory heterogeneity &amp; observations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3 · Gather proportionally:</a:t>
            </a:r>
            <a:r>
              <a:rPr sz="1300">
                <a:solidFill>
                  <a:srgbClr val="223344"/>
                </a:solidFill>
                <a:latin typeface="Calibri Light"/>
              </a:rPr>
              <a:t> resolve_watershed → elevation_summary → groundwater wells → streamflow gages → Fan prior → soil. Small limits; only what THIS question needs.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4 · Reason over results (the point):</a:t>
            </a:r>
            <a:r>
              <a:rPr sz="1300">
                <a:solidFill>
                  <a:srgbClr val="223344"/>
                </a:solidFill>
                <a:latin typeface="Calibri Light"/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23344"/>
                </a:solidFill>
                <a:latin typeface="Calibri Light"/>
              </a:rPr>
              <a:t>–  no wells → mark WTD validation unavailable, note streamflow instead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23344"/>
                </a:solidFill>
                <a:latin typeface="Calibri Light"/>
              </a:rPr>
              <a:t>–  flat terrain → drop elevation as a driver;  Fan very deep → water table decoupled from root zone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Rule:</a:t>
            </a:r>
            <a:r>
              <a:rPr sz="1300">
                <a:solidFill>
                  <a:srgbClr val="223344"/>
                </a:solidFill>
                <a:latin typeface="Calibri Light"/>
              </a:rPr>
              <a:t> only state values a tool returned — never invent coordinates, counts, or records.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Output:</a:t>
            </a:r>
            <a:r>
              <a:rPr sz="1300">
                <a:solidFill>
                  <a:srgbClr val="223344"/>
                </a:solidFill>
                <a:latin typeface="Calibri Light"/>
              </a:rPr>
              <a:t> one framed BRIEF (design_archetype, domain, heterogeneity, observations_available/missing, gaps) — or a clarification.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RECEPTION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Reception — live behavior on two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7548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SITE  ·  Naches watershed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•  6 rounds, **10 tool calls**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•  resolve_watershed → elevation_summary → groundwater_sites(25) → streamflow gages → Fan sample(64) → soil → checked 3 wells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archetype = site</a:t>
            </a:r>
            <a:r>
              <a:rPr sz="1300">
                <a:solidFill>
                  <a:srgbClr val="223344"/>
                </a:solidFill>
                <a:latin typeface="Calibri Light"/>
              </a:rPr>
              <a:t>, domain = Naches 2,860.6 km²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obs available:</a:t>
            </a:r>
            <a:r>
              <a:rPr sz="1300">
                <a:solidFill>
                  <a:srgbClr val="223344"/>
                </a:solidFill>
                <a:latin typeface="Calibri Light"/>
              </a:rPr>
              <a:t> water table · Fan prior · streamflow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obs missing:</a:t>
            </a:r>
            <a:r>
              <a:rPr sz="1300">
                <a:solidFill>
                  <a:srgbClr val="223344"/>
                </a:solidFill>
                <a:latin typeface="Calibri Light"/>
              </a:rPr>
              <a:t> in-situ soil moisture · gridded soil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F7F9FB"/>
          </a:solidFill>
          <a:ln w="1270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8132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A5A7C"/>
                </a:solidFill>
                <a:latin typeface="Calibri"/>
              </a:rPr>
              <a:t>CONCEPTUAL  ·  texture → recharge/ET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•  2 rounds, **1 tool call** (one representative climate)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archetype = conceptual</a:t>
            </a:r>
            <a:r>
              <a:rPr sz="1300">
                <a:solidFill>
                  <a:srgbClr val="223344"/>
                </a:solidFill>
                <a:latin typeface="Calibri Light"/>
              </a:rPr>
              <a:t>, domain = null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•  drivers = soil_texture · forcing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•  → routed to the planner to design a CONTROLLED experiment (no site, no spatial sampling)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PLANNER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Planner: one designer, two archetypes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46320"/>
                <a:gridCol w="484632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Conceptual / controlled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Site / domain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mechanism, no real 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real watershed + 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Design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vary the factor under controlled
conditions (synthetic soils,
one forcing), isolate mechanism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stratified spatial sampling across
real heterogeneity + validation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= factor levels (small, 3–6)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= strata × replication (data-driven)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Data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little / none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elevation, soil, wells, streamflow, Fan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optional / vs expectation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pinned to in-domain observations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064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A5A7C"/>
                </a:solidFill>
                <a:latin typeface="Calibri Light"/>
              </a:rPr>
              <a:t>Reception sets design_archetype; the planner branches on it. </a:t>
            </a:r>
            <a:r>
              <a:rPr sz="1300" b="0">
                <a:solidFill>
                  <a:srgbClr val="3A5A7C"/>
                </a:solidFill>
                <a:latin typeface="Calibri Light"/>
              </a:rPr>
              <a:t>The existing production ELM planner (forcing × soil × substrate) is already a conceptual/controlled design — so the vocabulary existed.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PLANNER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Planner — open reasoning, structured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Capability prompt:</a:t>
            </a:r>
            <a:r>
              <a:rPr sz="1400">
                <a:solidFill>
                  <a:srgbClr val="223344"/>
                </a:solidFill>
                <a:latin typeface="Calibri Light"/>
              </a:rPr>
              <a:t> open scientific reasoning at STRATEGY altitude — it does NOT enumerate per-column configs or invent coordinates (that is Tier 2/3).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N is justified, not blind:</a:t>
            </a:r>
            <a:r>
              <a:rPr sz="1400">
                <a:solidFill>
                  <a:srgbClr val="223344"/>
                </a:solidFill>
                <a:latin typeface="Calibri Light"/>
              </a:rPr>
              <a:t> the planner chooses the column count from the question + heterogeneity and explains it — a skillful small design beats a dense grid.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Validation pinned to data:</a:t>
            </a:r>
            <a:r>
              <a:rPr sz="1400">
                <a:solidFill>
                  <a:srgbClr val="223344"/>
                </a:solidFill>
                <a:latin typeface="Calibri Light"/>
              </a:rPr>
              <a:t> each target names the variable, source, in-domain availability, comparison, and metric — honest about gaps (e.g. no in-situ soil moisture).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>
                <a:solidFill>
                  <a:srgbClr val="CFE8F5"/>
                </a:solidFill>
                <a:latin typeface="Consolas"/>
              </a:rPr>
              <a:t>{  scientific_decomposition: { goals, key_processes, drivers_to_resolve },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model_choice:        { primary_model, design_archetype, coupling_needed },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sampling_strategy:   { approach, strata, n_exploratory, n_justification },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sampling_plan:       [ { group, n, reason } ],        # the n | group | why table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validation_design:   [ { target_variable, observation_source,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                         in_domain_available, comparison, metric } ],</a:t>
            </a:r>
          </a:p>
          <a:p>
            <a:r>
              <a:rPr sz="1200">
                <a:solidFill>
                  <a:srgbClr val="CFE8F5"/>
                </a:solidFill>
                <a:latin typeface="Consolas"/>
              </a:rPr>
              <a:t>   requires_capabilities: [ { capability, why, blocks } ]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Tier-2 expander — strategy → concrete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Deterministic Python, no LLM:</a:t>
            </a:r>
            <a:r>
              <a:rPr sz="1300">
                <a:solidFill>
                  <a:srgbClr val="223344"/>
                </a:solidFill>
                <a:latin typeface="Calibri Light"/>
              </a:rPr>
              <a:t> the planner's strategy + the real DEM/soil/Fan → concrete (lat,lon) columns. No hallucinated coordinates.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C7293"/>
                </a:solidFill>
                <a:latin typeface="Calibri Light"/>
              </a:rPr>
              <a:t>•  Algorithm:</a:t>
            </a:r>
            <a:r>
              <a:rPr sz="1300">
                <a:solidFill>
                  <a:srgbClr val="223344"/>
                </a:solidFill>
                <a:latin typeface="Calibri Light"/>
              </a:rPr>
              <a:t> sample DEM grid (terrain) → equal-interval elevation bands → allocate N ∝ occupied area (≥1/band) → farthest-point selection for spatial spread → enrich each column with Fan WTD + SSURGO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 Light"/>
              </a:rPr>
              <a:t>Naches result — 12 columns across 4 bands (306–1968 m):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004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554480"/>
                <a:gridCol w="1188720"/>
                <a:gridCol w="822960"/>
                <a:gridCol w="329184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lat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lon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elev_m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Fan WTD (m)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soil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col_01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46.7249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-120.7078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0.70  (valley, shallow)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loam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col_06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46.6268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-121.2511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996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0.00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loam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col_07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46.8230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-121.2511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1511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9.78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sandy loam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col_09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46.4796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-120.9406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1151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202.1  (ridge, deep)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col_11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46.7249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-121.3287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1629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58.76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344"/>
                          </a:solidFill>
                          <a:latin typeface="Calibri Light"/>
                        </a:rPr>
                        <a:t>sandy loam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A5A7C"/>
                </a:solidFill>
                <a:latin typeface="Calibri Light"/>
              </a:rPr>
              <a:t>Valley water table 0.7 m vs ridge 202 m — physically coherent; columns.json saved per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Engineering, safety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Additive &amp; safe:</a:t>
            </a:r>
            <a:r>
              <a:rPr sz="1400">
                <a:solidFill>
                  <a:srgbClr val="223344"/>
                </a:solidFill>
                <a:latin typeface="Calibri Light"/>
              </a:rPr>
              <a:t> the legacy two-pass reception and production workflow.py are untouched; new agents are a parallel path.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Dry by design:</a:t>
            </a:r>
            <a:r>
              <a:rPr sz="1400">
                <a:solidFill>
                  <a:srgbClr val="223344"/>
                </a:solidFill>
                <a:latin typeface="Calibri Light"/>
              </a:rPr>
              <a:t> the whole pipeline stops at planned columns — no experiment manager, no SLURM. Transcripts saved per run (brief, tool trace, plan, columns).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Tests — 62 passing</a:t>
            </a:r>
            <a:r>
              <a:rPr sz="1400">
                <a:solidFill>
                  <a:srgbClr val="223344"/>
                </a:solidFill>
                <a:latin typeface="Calibri Light"/>
              </a:rPr>
              <a:t> under pytorch/2.8.0: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223344"/>
                </a:solidFill>
                <a:latin typeface="Calibri Light"/>
              </a:rPr>
              <a:t>–  36 guardrail (existing ELM) · 20 MCP + expander (band/allocate/parse/fan-sign) · 6 agentic (tool-schema gen + brief parse)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CONUS sweep:</a:t>
            </a:r>
            <a:r>
              <a:rPr sz="1400">
                <a:solidFill>
                  <a:srgbClr val="223344"/>
                </a:solidFill>
                <a:latin typeface="Calibri Light"/>
              </a:rPr>
              <a:t> tools/mcp_conus_sweep.py — coverage diagnostic with an --assert sanity gate.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C7293"/>
                </a:solidFill>
                <a:latin typeface="Calibri Light"/>
              </a:rPr>
              <a:t>•  New files:</a:t>
            </a:r>
            <a:r>
              <a:rPr sz="1400">
                <a:solidFill>
                  <a:srgbClr val="223344"/>
                </a:solidFill>
                <a:latin typeface="Calibri Light"/>
              </a:rPr>
              <a:t> mcp/terrain-mcp, mcp/fan-wtd-mcp, usgs groundwater_api; src/agents/tool_loop.py, reception_llm.py, prompts; tools/run_pipeline.py, expand_sampling.py.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1A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A6D3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64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Agentic analyzer (next):</a:t>
            </a:r>
            <a:r>
              <a:rPr sz="1500">
                <a:solidFill>
                  <a:srgbClr val="223344"/>
                </a:solidFill>
                <a:latin typeface="Calibri Light"/>
              </a:rPr>
              <a:t> give the analyzer observation-retrieval tools so it FETCHES the wells/streamflow/Fan and compares them to ELM output — where 'validate against observations' actually happens.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Wire Tier-2 → Tier-3:</a:t>
            </a:r>
            <a:r>
              <a:rPr sz="1500">
                <a:solidFill>
                  <a:srgbClr val="223344"/>
                </a:solidFill>
                <a:latin typeface="Calibri Light"/>
              </a:rPr>
              <a:t> feed columns.json into the existing per-column ELM config + run path.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Gridded soil (GSDE):</a:t>
            </a:r>
            <a:r>
              <a:rPr sz="1500">
                <a:solidFill>
                  <a:srgbClr val="223344"/>
                </a:solidFill>
                <a:latin typeface="Calibri Light"/>
              </a:rPr>
              <a:t> add the BNU global soil dataset as a fan_wtd-style MCP to make soil a real stratification axis (deferred today).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Sampling refinement:</a:t>
            </a:r>
            <a:r>
              <a:rPr sz="1500">
                <a:solidFill>
                  <a:srgbClr val="223344"/>
                </a:solidFill>
                <a:latin typeface="Calibri Light"/>
              </a:rPr>
              <a:t> topographic position (valley vs hillslope) via TWI / height-above-drainage — beyond elevation bands.</a:t>
            </a:r>
          </a:p>
          <a:p>
            <a:pPr>
              <a:spcAft>
                <a:spcPts val="1100"/>
              </a:spcAft>
            </a:pPr>
            <a:r>
              <a:rPr b="1" sz="1500">
                <a:solidFill>
                  <a:srgbClr val="1C7293"/>
                </a:solidFill>
                <a:latin typeface="Calibri Light"/>
              </a:rPr>
              <a:t>•  Still open:</a:t>
            </a:r>
            <a:r>
              <a:rPr sz="1500">
                <a:solidFill>
                  <a:srgbClr val="223344"/>
                </a:solidFill>
                <a:latin typeface="Calibri Light"/>
              </a:rPr>
              <a:t> FLUXNET soil-moisture ingest · ELM→PFLOTRAN weak coupling.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A5A7C"/>
                </a:solidFill>
                <a:latin typeface="Calibri Light"/>
              </a:rPr>
              <a:t>Principle going forward: tool-use is a shared capability — grant each agent the subset its job needs (including none).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