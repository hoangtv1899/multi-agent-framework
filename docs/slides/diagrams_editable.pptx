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11827"/>
                </a:solidFill>
              </a:rPr>
              <a:t>ELM–PFLOTRAN weak coupling  (per column)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669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</a:rPr>
              <a:t>sequential / offline exchange — each model keeps its own solver, timestep and code base; files are the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914400"/>
            <a:ext cx="5852160" cy="475488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11827"/>
                </a:solidFill>
              </a:rPr>
              <a:t>NLDAS-2 met forcing — 0.125° / 12 km (rain·snow·T·wind·humidity·radiation)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0" y="1389888"/>
            <a:ext cx="0" cy="310896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737360"/>
            <a:ext cx="5852160" cy="141732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ELM — E3SM Land Model  (surface &amp; root zone, 0–3.8 m + bucket aquifer)</a:t>
            </a:r>
          </a:p>
          <a:p>
            <a:pPr algn="l"/>
            <a:r>
              <a:rPr sz="1050" b="0" i="0">
                <a:solidFill>
                  <a:srgbClr val="475569"/>
                </a:solidFill>
              </a:rPr>
              <a:t>• snow &amp; canopy · evapotranspiration · runoff partitioning</a:t>
            </a:r>
          </a:p>
          <a:p>
            <a:pPr algn="l"/>
            <a:r>
              <a:rPr sz="1050" b="0" i="0">
                <a:solidFill>
                  <a:srgbClr val="475569"/>
                </a:solidFill>
              </a:rPr>
              <a:t>• per-column SSURGO soil surface data · NLDAS forcing</a:t>
            </a:r>
          </a:p>
          <a:p>
            <a:pPr algn="l"/>
            <a:r>
              <a:rPr sz="1050" b="0" i="0">
                <a:solidFill>
                  <a:srgbClr val="475569"/>
                </a:solidFill>
              </a:rPr>
              <a:t>• warm-started at the Fan water table (finidat)</a:t>
            </a:r>
          </a:p>
          <a:p>
            <a:pPr algn="l"/>
            <a:r>
              <a:rPr sz="1050" b="1" i="0">
                <a:solidFill>
                  <a:srgbClr val="111827"/>
                </a:solidFill>
              </a:rPr>
              <a:t>→ outputs: daily infiltration QINFL · runoff · restart states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154680"/>
            <a:ext cx="0" cy="795528"/>
          </a:xfrm>
          <a:prstGeom prst="line">
            <a:avLst/>
          </a:prstGeom>
          <a:ln w="31750">
            <a:solidFill>
              <a:srgbClr val="2E75B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80360" y="3310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5B6"/>
                </a:solidFill>
              </a:rPr>
              <a:t>① one-way — LIVE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daily QINFL → top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Neumann flux BC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858000" y="3154680"/>
            <a:ext cx="0" cy="795528"/>
          </a:xfrm>
          <a:prstGeom prst="line">
            <a:avLst/>
          </a:prstGeom>
          <a:ln w="28575">
            <a:solidFill>
              <a:srgbClr val="C2410C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0880" y="3310128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2410C"/>
                </a:solidFill>
              </a:rPr>
              <a:t>② feedback — PLANNED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water-table depth / capillary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rise → ELM bottom BC;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iterate until WTD converges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986784"/>
            <a:ext cx="5852160" cy="16002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PFLOTRAN — Richards vadose zone  (variably saturated, 1-D to ~50 m)</a:t>
            </a:r>
          </a:p>
          <a:p>
            <a:pPr algn="l"/>
            <a:r>
              <a:rPr sz="1050" b="0" i="0">
                <a:solidFill>
                  <a:srgbClr val="475569"/>
                </a:solidFill>
              </a:rPr>
              <a:t>• van Genuchten curves from the same SSURGO horizons</a:t>
            </a:r>
          </a:p>
          <a:p>
            <a:pPr algn="l"/>
            <a:r>
              <a:rPr sz="1050" b="0" i="0">
                <a:solidFill>
                  <a:srgbClr val="475569"/>
                </a:solidFill>
              </a:rPr>
              <a:t>• hydrostatic IC + bottom pinned at the Fan water table</a:t>
            </a:r>
          </a:p>
          <a:p>
            <a:pPr algn="l"/>
            <a:r>
              <a:rPr sz="1050" b="0" i="0">
                <a:solidFill>
                  <a:srgbClr val="475569"/>
                </a:solidFill>
              </a:rPr>
              <a:t>• ~1 s per column, serial — no batch queue</a:t>
            </a:r>
          </a:p>
          <a:p>
            <a:pPr algn="l"/>
            <a:r>
              <a:rPr sz="1050" b="1" i="0">
                <a:solidFill>
                  <a:srgbClr val="111827"/>
                </a:solidFill>
              </a:rPr>
              <a:t>→ outputs: recharge AT the water table · lag &amp; attenuation · saturation profiles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870448"/>
            <a:ext cx="5852160" cy="475488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100">
                <a:solidFill>
                  <a:srgbClr val="111827"/>
                </a:solidFill>
              </a:rPr>
              <a:t>water table — Fan 2013 equilibrium prior (ParFlow-CONUS2 upgrade wired)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5586984"/>
            <a:ext cx="0" cy="283464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920240" y="1627631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044952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3.8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5477256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75569"/>
                </a:solidFill>
              </a:rPr>
              <a:t>~50 m (cap)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97480" y="1737360"/>
            <a:ext cx="0" cy="4133088"/>
          </a:xfrm>
          <a:prstGeom prst="line">
            <a:avLst/>
          </a:prstGeom>
          <a:ln w="127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81160" y="914400"/>
            <a:ext cx="26974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111827"/>
                </a:solidFill>
              </a:rPr>
              <a:t>why WEAK coupling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no source-code intrusion — either model can be swapped or upgraded independently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each model runs at its own resolution &amp; timestep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exchange = per-column files (flux series, restart states)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/>
            </a:r>
          </a:p>
          <a:p>
            <a:pPr algn="l"/>
            <a:r>
              <a:rPr sz="950" b="1" i="0">
                <a:solidFill>
                  <a:srgbClr val="111827"/>
                </a:solidFill>
              </a:rPr>
              <a:t>evidence (Naches, 18/20 columns):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infiltration→water-table lag: 0 d (WTD&lt;1 m) → 7–104 d (5–35 m)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vadose zone = low-pass filter; cutoff set by WTD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/>
            </a:r>
          </a:p>
          <a:p>
            <a:pPr algn="l"/>
            <a:r>
              <a:rPr sz="950" b="1" i="0">
                <a:solidFill>
                  <a:srgbClr val="111827"/>
                </a:solidFill>
              </a:rPr>
              <a:t>legend:</a:t>
            </a:r>
          </a:p>
          <a:p>
            <a:pPr algn="l"/>
            <a:r>
              <a:rPr sz="950" b="0" i="0">
                <a:solidFill>
                  <a:srgbClr val="2E75B6"/>
                </a:solidFill>
              </a:rPr>
              <a:t>— solid blue: implemented (one-way)</a:t>
            </a:r>
          </a:p>
          <a:p>
            <a:pPr algn="l"/>
            <a:r>
              <a:rPr sz="950" b="0" i="0">
                <a:solidFill>
                  <a:srgbClr val="C2410C"/>
                </a:solidFill>
              </a:rPr>
              <a:t>- - dashed orange: planned (two-way)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446520"/>
            <a:ext cx="11430000" cy="347472"/>
          </a:xfrm>
          <a:prstGeom prst="rect">
            <a:avLst/>
          </a:prstGeom>
          <a:solidFill>
            <a:srgbClr val="EFEFEF"/>
          </a:solidFill>
          <a:ln w="9525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00">
                <a:solidFill>
                  <a:srgbClr val="111827"/>
                </a:solidFill>
              </a:rPr>
              <a:t/>
            </a:r>
          </a:p>
          <a:p>
            <a:pPr algn="l"/>
            <a:r>
              <a:rPr sz="1000" b="0" i="0">
                <a:solidFill>
                  <a:srgbClr val="475569"/>
                </a:solidFill>
              </a:rPr>
              <a:t>shared per-column context (columns.json): same site, same SSURGO soil profile, same Fan-WTD prior — the models see one consistent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1827"/>
                </a:solidFill>
              </a:rPr>
              <a:t>Multi-agent framework — current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594360"/>
            <a:ext cx="2651760" cy="23774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Data Layer</a:t>
            </a:r>
          </a:p>
          <a:p>
            <a:pPr algn="l"/>
            <a:r>
              <a:rPr sz="950" b="1" i="0">
                <a:solidFill>
                  <a:srgbClr val="111827"/>
                </a:solidFill>
              </a:rPr>
              <a:t>MCP servers (agent tools):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terrain 3DEP/WBD · geology SSURGO · usgs_water wells+gauges · snotel SWE · weather · fan_wtd</a:t>
            </a:r>
          </a:p>
          <a:p>
            <a:pPr algn="l"/>
            <a:r>
              <a:rPr sz="950" b="1" i="0">
                <a:solidFill>
                  <a:srgbClr val="C2410C"/>
                </a:solidFill>
              </a:rPr>
              <a:t>Bulk products (build time):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NLDAS-2 forcing 12 km (default) · Fan WTD warm-start prior · ParFlow-CONUS2 (wired)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12080" y="594360"/>
            <a:ext cx="3017520" cy="137160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Reception Agent</a:t>
            </a:r>
          </a:p>
          <a:p>
            <a:pPr algn="l"/>
            <a:r>
              <a:rPr sz="950" b="0" i="1">
                <a:solidFill>
                  <a:srgbClr val="475569"/>
                </a:solidFill>
              </a:rPr>
              <a:t>agentic LLM tool-user — drives MCP itself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intent + archetype routing · evidence gathering · interactive clarification · multi-turn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827"/>
                </a:solidFill>
              </a:rP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8275320" y="868680"/>
            <a:ext cx="1783080" cy="13716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778240" y="566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question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8275320" y="1051560"/>
            <a:ext cx="1783080" cy="41148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7824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clarifications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1005840"/>
            <a:ext cx="2194560" cy="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971800" y="1417320"/>
            <a:ext cx="2194560" cy="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91840" y="658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agentic tool loop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383280"/>
            <a:ext cx="3108960" cy="2834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Planner Agent</a:t>
            </a:r>
          </a:p>
          <a:p>
            <a:pPr algn="l"/>
            <a:r>
              <a:rPr sz="950" b="0" i="1">
                <a:solidFill>
                  <a:srgbClr val="475569"/>
                </a:solidFill>
              </a:rPr>
              <a:t>capability-aware LLM designer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strategy: N, strata, validation targets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feasibility verdict vs execution limits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requires_capabilities backlog</a:t>
            </a:r>
          </a:p>
          <a:p>
            <a:pPr algn="l"/>
            <a:r>
              <a:rPr sz="950" b="1" i="0">
                <a:solidFill>
                  <a:srgbClr val="C2410C"/>
                </a:solidFill>
              </a:rPr>
              <a:t>• altitude only — NO coordinates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• internal validation loop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3383280"/>
            <a:ext cx="3749039" cy="2834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Experiment Manager</a:t>
            </a:r>
          </a:p>
          <a:p>
            <a:pPr algn="l"/>
            <a:r>
              <a:rPr sz="950" b="0" i="1">
                <a:solidFill>
                  <a:srgbClr val="475569"/>
                </a:solidFill>
              </a:rPr>
              <a:t>deterministic pipeline — strategy in, results out</a:t>
            </a:r>
          </a:p>
          <a:p>
            <a:pPr algn="l"/>
            <a:r>
              <a:rPr sz="950" b="0" i="1">
                <a:solidFill>
                  <a:srgbClr val="475569"/>
                </a:solidFill>
              </a:rPr>
              <a:t>ELM per-column · PFLOTRAN 1-D — same interface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1. materialize sampling (DEM·soil·WTD)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2. build &amp; configure (forcing · warm start)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3. pre-flight guards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4. execute (concurrent · cost confirm)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5. collect (history · restarts)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3383280"/>
            <a:ext cx="3200400" cy="2834640"/>
          </a:xfrm>
          <a:prstGeom prst="roundRect">
            <a:avLst/>
          </a:prstGeom>
          <a:solidFill>
            <a:srgbClr val="FFFFFF"/>
          </a:solidFill>
          <a:ln w="279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111827"/>
                </a:solidFill>
              </a:rPr>
              <a:t>Analyzer</a:t>
            </a:r>
          </a:p>
          <a:p>
            <a:pPr algn="l"/>
            <a:r>
              <a:rPr sz="950" b="0" i="1">
                <a:solidFill>
                  <a:srgbClr val="475569"/>
                </a:solidFill>
              </a:rPr>
              <a:t>numbers → validation → LLM interpretation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a. water budgets · driver×response matrix · honesty flags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b. observation validation: wells · gauges (NSE/KGE) · SNOTEL</a:t>
            </a:r>
          </a:p>
          <a:p>
            <a:pPr algn="l"/>
            <a:r>
              <a:rPr sz="950" b="0" i="0">
                <a:solidFill>
                  <a:srgbClr val="475569"/>
                </a:solidFill>
              </a:rPr>
              <a:t>c. LLM interpreter (Answer/Why/Trust/Next)</a:t>
            </a:r>
          </a:p>
          <a:p>
            <a:pPr algn="l"/>
            <a:r>
              <a:rPr sz="950" b="1" i="0">
                <a:solidFill>
                  <a:srgbClr val="111827"/>
                </a:solidFill>
              </a:rPr>
              <a:t>→ auto-generated storyline deck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011680" y="1965960"/>
            <a:ext cx="3200400" cy="141732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1752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framed brief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383280" y="4800600"/>
            <a:ext cx="777240" cy="0"/>
          </a:xfrm>
          <a:prstGeom prst="line">
            <a:avLst/>
          </a:prstGeom>
          <a:ln w="2857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01568" y="4526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strategy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09560" y="4800600"/>
            <a:ext cx="777240" cy="0"/>
          </a:xfrm>
          <a:prstGeom prst="line">
            <a:avLst/>
          </a:prstGeom>
          <a:ln w="2857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927848" y="4526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11827"/>
                </a:solidFill>
              </a:rPr>
              <a:t>results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0" y="1965960"/>
            <a:ext cx="1828800" cy="141732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05256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analyze existing exp.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10972800" y="914400"/>
            <a:ext cx="548640" cy="2468880"/>
          </a:xfrm>
          <a:prstGeom prst="line">
            <a:avLst/>
          </a:prstGeom>
          <a:ln w="22225">
            <a:solidFill>
              <a:srgbClr val="111827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97280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</a:rPr>
              <a:t>final report + deck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00200" y="2971800"/>
            <a:ext cx="3429000" cy="1051560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463040" y="30632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DEM·soil·WTD·forcing (bulk)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926080" y="2743200"/>
            <a:ext cx="6675120" cy="594360"/>
          </a:xfrm>
          <a:prstGeom prst="line">
            <a:avLst/>
          </a:prstGeom>
          <a:ln w="15240">
            <a:solidFill>
              <a:srgbClr val="8A8A8A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3504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75569"/>
                </a:solidFill>
              </a:rPr>
              <a:t>observations for validation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794760" y="3291840"/>
            <a:ext cx="0" cy="3017520"/>
          </a:xfrm>
          <a:prstGeom prst="line">
            <a:avLst/>
          </a:prstGeom>
          <a:ln w="1905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77440" y="632764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C2626"/>
                </a:solidFill>
              </a:rPr>
              <a:t>anti-hallucination boundary — the LLM plans strategy; every coordinate &amp; config comes from data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4754880" y="6217920"/>
            <a:ext cx="2560320" cy="0"/>
          </a:xfrm>
          <a:prstGeom prst="bentConnector3">
            <a:avLst/>
          </a:prstGeom>
          <a:ln w="22225">
            <a:solidFill>
              <a:srgbClr val="C2410C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937760" y="6446520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2410C"/>
                </a:solidFill>
              </a:rPr>
              <a:t>chained experiments: a run's outputs (ELM infiltration, restarts) feed the next build — warm starts · ELM→PFLOTRAN coupling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