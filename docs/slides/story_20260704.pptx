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image" Target="../media/image7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Relationship Id="rId3" Type="http://schemas.openxmlformats.org/officeDocument/2006/relationships/image" Target="../media/image12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png"/><Relationship Id="rId3" Type="http://schemas.openxmlformats.org/officeDocument/2006/relationships/image" Target="../media/image16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103120"/>
            <a:ext cx="10728655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3400" b="1">
                <a:solidFill>
                  <a:srgbClr val="0F172A"/>
                </a:solidFill>
              </a:rPr>
              <a:t>From a question to a validated simulation campaign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3474720"/>
            <a:ext cx="10728655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600" b="0">
                <a:solidFill>
                  <a:srgbClr val="475569"/>
                </a:solidFill>
              </a:rPr>
              <a:t>Multi-agent LLM framework on NERSC Perlmutter — 4 executed case studies</a:t>
            </a:r>
          </a:p>
          <a:p>
            <a:pPr>
              <a:spcAft>
                <a:spcPts val="600"/>
              </a:spcAft>
            </a:pPr>
            <a:r>
              <a:rPr sz="1600" b="0">
                <a:solidFill>
                  <a:srgbClr val="475569"/>
                </a:solidFill>
              </a:rPr>
              <a:t>question → plan → sampling → per-column ELM runs → analysis → observation validation</a:t>
            </a:r>
          </a:p>
          <a:p>
            <a:pPr>
              <a:spcAft>
                <a:spcPts val="600"/>
              </a:spcAft>
            </a:pPr>
            <a:r>
              <a:rPr sz="1600" b="0">
                <a:solidFill>
                  <a:srgbClr val="475569"/>
                </a:solidFill>
              </a:rPr>
              <a:t>generated 2026-07-04 from workflow_outputs/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1127729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2800" b="1">
                <a:solidFill>
                  <a:srgbClr val="0F172A"/>
                </a:solidFill>
              </a:rPr>
              <a:t>Case 1 — Naches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868680"/>
            <a:ext cx="1127729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300" b="0">
                <a:solidFill>
                  <a:srgbClr val="475569"/>
                </a:solidFill>
              </a:rPr>
              <a:t>HUC 17030002 · 2860.6 km² · elevation 352.0–1977.4 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11277295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800" b="1">
                <a:solidFill>
                  <a:srgbClr val="2C7FB8"/>
                </a:solidFill>
              </a:rPr>
              <a:t>“Determine the partitioning of runoff, infiltration, and recharge and the processes that control it across the Naches sub-watershed (HUC8 17030002, eastern Cascades, WA), and validate against observations”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468880"/>
            <a:ext cx="11277295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b="1" sz="1400">
                <a:solidFill>
                  <a:srgbClr val="2C7FB8"/>
                </a:solidFill>
              </a:rPr>
              <a:t>goal:  </a:t>
            </a:r>
            <a:r>
              <a:rPr sz="1400">
                <a:solidFill>
                  <a:srgbClr val="0F172A"/>
                </a:solidFill>
              </a:rPr>
              <a:t>Mechanistic: quantify partitioning of precip+snowmelt into surface runoff, infiltration, and deep drainage (recharge) across the Naches, and attribute it to elevation/snow regime, soil layering, and ET</a:t>
            </a:r>
          </a:p>
          <a:p>
            <a:pPr>
              <a:spcAft>
                <a:spcPts val="600"/>
              </a:spcAft>
            </a:pPr>
            <a:r>
              <a:rPr b="1" sz="1400">
                <a:solidFill>
                  <a:srgbClr val="2C7FB8"/>
                </a:solidFill>
              </a:rPr>
              <a:t>goal:  </a:t>
            </a:r>
            <a:r>
              <a:rPr sz="1400">
                <a:solidFill>
                  <a:srgbClr val="0F172A"/>
                </a:solidFill>
              </a:rPr>
              <a:t>Validation: confront simulated SWE against SNOTEL and integrated runoff against USGS streamflow; treat recharge as an unvalidated water-balance residual</a:t>
            </a:r>
          </a:p>
          <a:p>
            <a:pPr>
              <a:spcAft>
                <a:spcPts val="600"/>
              </a:spcAft>
            </a:pPr>
            <a:r>
              <a:rPr b="1" sz="1400">
                <a:solidFill>
                  <a:srgbClr val="2C7FB8"/>
                </a:solidFill>
              </a:rPr>
              <a:t>sampling:  </a:t>
            </a:r>
            <a:r>
              <a:rPr sz="1400">
                <a:solidFill>
                  <a:srgbClr val="0F172A"/>
                </a:solidFill>
              </a:rPr>
              <a:t>N=10 — stratified (elevation primary, soil-layering secondary) with validation columns pinned to observation sites</a:t>
            </a:r>
          </a:p>
          <a:p>
            <a:pPr>
              <a:spcAft>
                <a:spcPts val="600"/>
              </a:spcAft>
            </a:pPr>
            <a:r>
              <a:rPr b="1" sz="1400">
                <a:solidFill>
                  <a:srgbClr val="2C7FB8"/>
                </a:solidFill>
              </a:rPr>
              <a:t>why N:  </a:t>
            </a:r>
            <a:r>
              <a:rPr sz="1400">
                <a:solidFill>
                  <a:srgbClr val="0F172A"/>
                </a:solidFill>
              </a:rPr>
              <a:t>4 elevation bands x 2 soil contrasts = 8 to span the dominant snow-regime gradient and the infiltration-vs-recharge soil control, +2 replicates at the rain-snow transition (bands 2-3) where partitioning is most sensitive. Soil kept to 2 levels because only point SSURGO exists (gridded soil is a gap).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1127729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2800" b="1">
                <a:solidFill>
                  <a:srgbClr val="0F172A"/>
                </a:solidFill>
              </a:rPr>
              <a:t>Naches — sampling design (Tier-2 expander)</a:t>
            </a:r>
          </a:p>
        </p:txBody>
      </p:sp>
      <p:pic>
        <p:nvPicPr>
          <p:cNvPr id="3" name="Picture 2" descr="sampling_desig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95728" y="1005840"/>
            <a:ext cx="7000239" cy="484632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5943600"/>
            <a:ext cx="11277295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050" b="0">
                <a:solidFill>
                  <a:srgbClr val="475569"/>
                </a:solidFill>
              </a:rPr>
              <a:t>Panels — top-left: chosen columns on the DEM, coloured by elevation band, navy = watershed boundary.  top-right: histogram of the basin's DEM sample (grey = how much terrain sits at each elevation); dashed lines = the equal-interval band edges; coloured ticks = the chosen columns' elevations.  bottom-left: Fan (2013) equilibrium water-table depth at each column.  bottom-right: columns allocated per band — proportional to the band's share of the basin's DEM points (annotated n / points), minimum 1 per band.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1127729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2800" b="1">
                <a:solidFill>
                  <a:srgbClr val="0F172A"/>
                </a:solidFill>
              </a:rPr>
              <a:t>Naches — execution &amp; results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60120"/>
            <a:ext cx="11277295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b="1" sz="1300">
                <a:solidFill>
                  <a:srgbClr val="2C7FB8"/>
                </a:solidFill>
              </a:rPr>
              <a:t>execution:  </a:t>
            </a:r>
            <a:r>
              <a:rPr sz="1300">
                <a:solidFill>
                  <a:srgbClr val="0F172A"/>
                </a:solidFill>
              </a:rPr>
              <a:t>10/10 columns succeeded · ~3 min each (~15 s clone per column, shared executable)</a:t>
            </a:r>
          </a:p>
        </p:txBody>
      </p:sp>
      <p:pic>
        <p:nvPicPr>
          <p:cNvPr id="4" name="Picture 3" descr="elevation_gradi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31931" y="1463040"/>
            <a:ext cx="7327833" cy="2377440"/>
          </a:xfrm>
          <a:prstGeom prst="rect">
            <a:avLst/>
          </a:prstGeom>
        </p:spPr>
      </p:pic>
      <p:pic>
        <p:nvPicPr>
          <p:cNvPr id="5" name="Picture 4" descr="soil_contro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37690" y="3931920"/>
            <a:ext cx="5116315" cy="237744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6400800"/>
            <a:ext cx="11277295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950" b="0">
                <a:solidFill>
                  <a:srgbClr val="475569"/>
                </a:solidFill>
              </a:rPr>
              <a:t>Definitions — recharge = ELM QCHARGE (flux from the soil column to the water table); runoff = QOVER (surface runoff); recharge fraction = QCHARGE/(QCHARGE+QOVER); WTD = ZWT (the column's own water-table depth); forcing = CLM_QIAN (Qian 2006, T62 ≈ 1.9°) precip at the column.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1127729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2800" b="1">
                <a:solidFill>
                  <a:srgbClr val="0F172A"/>
                </a:solidFill>
              </a:rPr>
              <a:t>Naches — analyzer interpretation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188720"/>
            <a:ext cx="11277295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b="1" sz="1400">
                <a:solidFill>
                  <a:srgbClr val="2C7FB8"/>
                </a:solidFill>
              </a:rPr>
              <a:t>finding:  </a:t>
            </a:r>
            <a:r>
              <a:rPr sz="1400">
                <a:solidFill>
                  <a:srgbClr val="0F172A"/>
                </a:solidFill>
              </a:rPr>
              <a:t>precip is quantized to 2 value(s) [793, 1373] mm/yr — coarse DATM forcing, NOT elevation-resolved</a:t>
            </a:r>
          </a:p>
          <a:p>
            <a:pPr>
              <a:spcAft>
                <a:spcPts val="600"/>
              </a:spcAft>
            </a:pPr>
            <a:r>
              <a:rPr b="1" sz="1400">
                <a:solidFill>
                  <a:srgbClr val="2C7FB8"/>
                </a:solidFill>
              </a:rPr>
              <a:t>finding:  </a:t>
            </a:r>
            <a:r>
              <a:rPr sz="1400">
                <a:solidFill>
                  <a:srgbClr val="0F172A"/>
                </a:solidFill>
              </a:rPr>
              <a:t>recharge tracks precip (r=0.897) more than elevation (r=0.593) — response is forcing/soil-controlled</a:t>
            </a:r>
          </a:p>
          <a:p>
            <a:pPr>
              <a:spcAft>
                <a:spcPts val="600"/>
              </a:spcAft>
            </a:pPr>
            <a:r>
              <a:rPr b="1" sz="1400">
                <a:solidFill>
                  <a:srgbClr val="2C7FB8"/>
                </a:solidFill>
              </a:rPr>
              <a:t>finding:  </a:t>
            </a:r>
            <a:r>
              <a:rPr sz="1400">
                <a:solidFill>
                  <a:srgbClr val="0F172A"/>
                </a:solidFill>
              </a:rPr>
              <a:t>linear elevation fit is weak (r2=0.351) — the elevation 'gradient' is not a reliable summary</a:t>
            </a:r>
          </a:p>
          <a:p>
            <a:pPr>
              <a:spcAft>
                <a:spcPts val="600"/>
              </a:spcAft>
            </a:pPr>
            <a:r>
              <a:rPr b="1" sz="1400">
                <a:solidFill>
                  <a:srgbClr val="2C7FB8"/>
                </a:solidFill>
              </a:rPr>
              <a:t>finding:  </a:t>
            </a:r>
            <a:r>
              <a:rPr sz="1400">
                <a:solidFill>
                  <a:srgbClr val="0F172A"/>
                </a:solidFill>
              </a:rPr>
              <a:t>soil control (forcing held at 1373 mm/yr, 8 columns): strongest predictor = recharge_vs_clay_max (r=-0.877)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1127729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2800" b="1">
                <a:solidFill>
                  <a:srgbClr val="0F172A"/>
                </a:solidFill>
              </a:rPr>
              <a:t>Naches — evaluation vs observations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868680"/>
            <a:ext cx="1127729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300" b="0">
                <a:solidFill>
                  <a:srgbClr val="475569"/>
                </a:solidFill>
              </a:rPr>
              <a:t>what could be compared honestly, and what still blocks rigorous validation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43000"/>
            <a:ext cx="11277295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b="1" sz="1200">
                <a:solidFill>
                  <a:srgbClr val="2C7FB8"/>
                </a:solidFill>
              </a:rPr>
              <a:t>in-domain obs:  </a:t>
            </a:r>
            <a:r>
              <a:rPr sz="1200">
                <a:solidFill>
                  <a:srgbClr val="0F172A"/>
                </a:solidFill>
              </a:rPr>
              <a:t>SNOTEL 6 · stream gages 93 · GW wells 200 (9/10 sampled have records)</a:t>
            </a:r>
          </a:p>
          <a:p>
            <a:pPr>
              <a:spcAft>
                <a:spcPts val="600"/>
              </a:spcAft>
            </a:pPr>
            <a:r>
              <a:rPr b="1" sz="1200">
                <a:solidFill>
                  <a:srgbClr val="2C7FB8"/>
                </a:solidFill>
              </a:rPr>
              <a:t>✓ COMPARED — water-table depth:  </a:t>
            </a:r>
            <a:r>
              <a:rPr sz="1200">
                <a:solidFill>
                  <a:srgbClr val="0F172A"/>
                </a:solidFill>
              </a:rPr>
              <a:t>model ZWT median 8.37 m vs Fan 3.11 m vs observed wells 15.23 m (median; n=9)</a:t>
            </a:r>
          </a:p>
          <a:p>
            <a:pPr>
              <a:spcAft>
                <a:spcPts val="600"/>
              </a:spcAft>
            </a:pPr>
            <a:r>
              <a:rPr b="1" sz="1200">
                <a:solidFill>
                  <a:srgbClr val="2C7FB8"/>
                </a:solidFill>
              </a:rPr>
              <a:t>✓ COMPARED — streamflow (water yield):  </a:t>
            </a:r>
            <a:r>
              <a:rPr sz="1200">
                <a:solidFill>
                  <a:srgbClr val="0F172A"/>
                </a:solidFill>
              </a:rPr>
              <a:t>modeled yield 490.1 mm/yr vs observed specific discharge 1426.8 mm/yr (American River Near Nile, Wa)</a:t>
            </a:r>
          </a:p>
          <a:p>
            <a:pPr>
              <a:spcAft>
                <a:spcPts val="600"/>
              </a:spcAft>
            </a:pPr>
            <a:r>
              <a:rPr b="1" sz="1200">
                <a:solidFill>
                  <a:srgbClr val="2C7FB8"/>
                </a:solidFill>
              </a:rPr>
              <a:t>· context-only — streamflow (daily hydrograph):  </a:t>
            </a:r>
            <a:r>
              <a:rPr sz="1200">
                <a:solidFill>
                  <a:srgbClr val="0F172A"/>
                </a:solidFill>
              </a:rPr>
              <a:t>daily comparison unavailable</a:t>
            </a:r>
          </a:p>
          <a:p>
            <a:pPr>
              <a:spcAft>
                <a:spcPts val="600"/>
              </a:spcAft>
            </a:pPr>
            <a:r>
              <a:rPr b="1" sz="1200">
                <a:solidFill>
                  <a:srgbClr val="2C7FB8"/>
                </a:solidFill>
              </a:rPr>
              <a:t>· context-only — snow water equivalent:  </a:t>
            </a:r>
            <a:r>
              <a:rPr sz="1200">
                <a:solidFill>
                  <a:srgbClr val="0F172A"/>
                </a:solidFill>
              </a:rPr>
              <a:t>observed peak SWE 645–1981 mm across stations vs column forcing precip 793, 1373 mm/yr — this run predates SWE (H2OSNO) in the history output  — needs: snow/SWE history output (default since 2026-07) + elevation-downscaled forcing</a:t>
            </a:r>
          </a:p>
        </p:txBody>
      </p:sp>
      <p:pic>
        <p:nvPicPr>
          <p:cNvPr id="5" name="Picture 4" descr="valida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55523" y="3383280"/>
            <a:ext cx="8880648" cy="301752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6446520"/>
            <a:ext cx="1127729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950" b="0">
                <a:solidFill>
                  <a:srgbClr val="475569"/>
                </a:solidFill>
              </a:rPr>
              <a:t>Metrics — NSE: 1=perfect, 0=no better than the observed mean, &lt;0 worse than the mean.  KGE: 1=perfect; components r (timing correlation), α (variability ratio σm/σo), β (volume ratio μm/μo).  Specific discharge = gauge flow ÷ drainage area, making a gauge comparable to 1-D columns (mm/yr or mm/day).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1127729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2800" b="1">
                <a:solidFill>
                  <a:srgbClr val="0F172A"/>
                </a:solidFill>
              </a:rPr>
              <a:t>Case 2 — Naches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868680"/>
            <a:ext cx="1127729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300" b="0">
                <a:solidFill>
                  <a:srgbClr val="475569"/>
                </a:solidFill>
              </a:rPr>
              <a:t>HUC 17030002 · 2860.6 km² · elevation 352.0–1977.4 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11277295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800" b="1">
                <a:solidFill>
                  <a:srgbClr val="2C7FB8"/>
                </a:solidFill>
              </a:rPr>
              <a:t>“Partitioning of runoff/recharge in the Naches sub-watershed (HUC8 17030002), validate with observations”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468880"/>
            <a:ext cx="11277295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b="1" sz="1400">
                <a:solidFill>
                  <a:srgbClr val="2C7FB8"/>
                </a:solidFill>
              </a:rPr>
              <a:t>goal:  </a:t>
            </a:r>
            <a:r>
              <a:rPr sz="1400">
                <a:solidFill>
                  <a:srgbClr val="0F172A"/>
                </a:solidFill>
              </a:rPr>
              <a:t>Mechanistic: quantify how the representative Naches profile partitions incoming water among ET, surface runoff (QOVER) and sub-surface drainage/recharge (QDRAI), and how that partitioning shifts with water availability (forcing period)</a:t>
            </a:r>
          </a:p>
          <a:p>
            <a:pPr>
              <a:spcAft>
                <a:spcPts val="600"/>
              </a:spcAft>
            </a:pPr>
            <a:r>
              <a:rPr b="1" sz="1400">
                <a:solidFill>
                  <a:srgbClr val="2C7FB8"/>
                </a:solidFill>
              </a:rPr>
              <a:t>goal:  </a:t>
            </a:r>
            <a:r>
              <a:rPr sz="1400">
                <a:solidFill>
                  <a:srgbClr val="0F172A"/>
                </a:solidFill>
              </a:rPr>
              <a:t>Validation: compare ELM water balance against integrated streamflow at in-HUC USGS gages, SNOTEL SWE as snow driver, and Fan-2013 WTD as deep-storage context — MOST of which is blocked by current execution limits</a:t>
            </a:r>
          </a:p>
          <a:p>
            <a:pPr>
              <a:spcAft>
                <a:spcPts val="600"/>
              </a:spcAft>
            </a:pPr>
            <a:r>
              <a:rPr b="1" sz="1400">
                <a:solidFill>
                  <a:srgbClr val="2C7FB8"/>
                </a:solidFill>
              </a:rPr>
              <a:t>sampling:  </a:t>
            </a:r>
            <a:r>
              <a:rPr sz="1400">
                <a:solidFill>
                  <a:srgbClr val="0F172A"/>
                </a:solidFill>
              </a:rPr>
              <a:t>N=8 — stratified (elevation bands for surface-data sampling) + forcing-period treatment on a representative column</a:t>
            </a:r>
          </a:p>
          <a:p>
            <a:pPr>
              <a:spcAft>
                <a:spcPts val="600"/>
              </a:spcAft>
            </a:pPr>
            <a:r>
              <a:rPr b="1" sz="1400">
                <a:solidFill>
                  <a:srgbClr val="2C7FB8"/>
                </a:solidFill>
              </a:rPr>
              <a:t>why N:  </a:t>
            </a:r>
            <a:r>
              <a:rPr sz="1400">
                <a:solidFill>
                  <a:srgbClr val="0F172A"/>
                </a:solidFill>
              </a:rPr>
              <a:t>4 columns to span the four elevation bands and sample whatever per-column surface-data (PFT/default soil) heterogeneity exists across the basin under baseline forcing (NOT an elevation/climate test — forcing is uniform). Plus a forcing-period sweep (wet + drought = 2 extra periods) applied to two representative columns (1 mid-elevation valley-influenced, 1 upland) = 4 more, to isolate the only usable mechanistic lever: water-availability control on partitioning. Total 8. A denser grid is unjustified because neither elevation-climate nor soil texture can be resolved.</a:t>
            </a:r>
          </a:p>
          <a:p>
            <a:pPr>
              <a:spcAft>
                <a:spcPts val="600"/>
              </a:spcAft>
            </a:pPr>
            <a:r>
              <a:rPr b="1" sz="1400">
                <a:solidFill>
                  <a:srgbClr val="2C7FB8"/>
                </a:solidFill>
              </a:rPr>
              <a:t>feasibility:  </a:t>
            </a:r>
            <a:r>
              <a:rPr sz="1400">
                <a:solidFill>
                  <a:srgbClr val="0F172A"/>
                </a:solidFill>
              </a:rPr>
              <a:t>partial — the elevation/snow-driven partitioning mechanism (the brief's stated primary control) is NOT representable, and the observation-based validation goal is largely blocked. Only the soil-profile water-balance partitioning and its forcing-period sensitivity are answerable.</a:t>
            </a:r>
          </a:p>
          <a:p>
            <a:pPr>
              <a:spcAft>
                <a:spcPts val="600"/>
              </a:spcAft>
            </a:pPr>
            <a:r>
              <a:rPr b="1" sz="1400">
                <a:solidFill>
                  <a:srgbClr val="2C7FB8"/>
                </a:solidFill>
              </a:rPr>
              <a:t>not answerable:  </a:t>
            </a:r>
            <a:r>
              <a:rPr sz="1400">
                <a:solidFill>
                  <a:srgbClr val="0F172A"/>
                </a:solidFill>
              </a:rPr>
              <a:t>Elevation / snow-regime control on partitioning (the brief's stated primary driver) — needs elevation-downscaled forcing</a:t>
            </a:r>
          </a:p>
          <a:p>
            <a:pPr>
              <a:spcAft>
                <a:spcPts val="600"/>
              </a:spcAft>
            </a:pPr>
            <a:r>
              <a:rPr b="1" sz="1400">
                <a:solidFill>
                  <a:srgbClr val="2C7FB8"/>
                </a:solidFill>
              </a:rPr>
              <a:t>not answerable:  </a:t>
            </a:r>
            <a:r>
              <a:rPr sz="1400">
                <a:solidFill>
                  <a:srgbClr val="0F172A"/>
                </a:solidFill>
              </a:rPr>
              <a:t>Validation against SNOTEL SWE / melt timing — needs snow/SWE history output AND elevation-downscaled forcing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1127729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2800" b="1">
                <a:solidFill>
                  <a:srgbClr val="0F172A"/>
                </a:solidFill>
              </a:rPr>
              <a:t>Naches — sampling design (Tier-2 expander)</a:t>
            </a:r>
          </a:p>
        </p:txBody>
      </p:sp>
      <p:pic>
        <p:nvPicPr>
          <p:cNvPr id="3" name="Picture 2" descr="sampling_desig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95728" y="1005840"/>
            <a:ext cx="7000239" cy="484632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5943600"/>
            <a:ext cx="11277295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050" b="0">
                <a:solidFill>
                  <a:srgbClr val="475569"/>
                </a:solidFill>
              </a:rPr>
              <a:t>Panels — top-left: chosen columns on the DEM, coloured by elevation band, navy = watershed boundary.  top-right: histogram of the basin's DEM sample (grey = how much terrain sits at each elevation); dashed lines = the equal-interval band edges; coloured ticks = the chosen columns' elevations.  bottom-left: Fan (2013) equilibrium water-table depth at each column.  bottom-right: columns allocated per band — proportional to the band's share of the basin's DEM points (annotated n / points), minimum 1 per band.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1127729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2800" b="1">
                <a:solidFill>
                  <a:srgbClr val="0F172A"/>
                </a:solidFill>
              </a:rPr>
              <a:t>Naches — execution &amp; results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60120"/>
            <a:ext cx="11277295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b="1" sz="1300">
                <a:solidFill>
                  <a:srgbClr val="2C7FB8"/>
                </a:solidFill>
              </a:rPr>
              <a:t>execution:  </a:t>
            </a:r>
            <a:r>
              <a:rPr sz="1300">
                <a:solidFill>
                  <a:srgbClr val="0F172A"/>
                </a:solidFill>
              </a:rPr>
              <a:t>8/8 columns succeeded · ~3 min each (~15 s clone per column, shared executable)</a:t>
            </a:r>
          </a:p>
        </p:txBody>
      </p:sp>
      <p:pic>
        <p:nvPicPr>
          <p:cNvPr id="4" name="Picture 3" descr="elevation_gradi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31931" y="1463040"/>
            <a:ext cx="7327833" cy="2377440"/>
          </a:xfrm>
          <a:prstGeom prst="rect">
            <a:avLst/>
          </a:prstGeom>
        </p:spPr>
      </p:pic>
      <p:pic>
        <p:nvPicPr>
          <p:cNvPr id="5" name="Picture 4" descr="soil_contro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37690" y="3931920"/>
            <a:ext cx="5116315" cy="237744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6400800"/>
            <a:ext cx="11277295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950" b="0">
                <a:solidFill>
                  <a:srgbClr val="475569"/>
                </a:solidFill>
              </a:rPr>
              <a:t>Definitions — recharge = ELM QCHARGE (flux from the soil column to the water table); runoff = QOVER (surface runoff); recharge fraction = QCHARGE/(QCHARGE+QOVER); WTD = ZWT (the column's own water-table depth); forcing = CLM_QIAN (Qian 2006, T62 ≈ 1.9°) precip at the column.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1127729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2800" b="1">
                <a:solidFill>
                  <a:srgbClr val="0F172A"/>
                </a:solidFill>
              </a:rPr>
              <a:t>Naches — results (continued)</a:t>
            </a:r>
          </a:p>
        </p:txBody>
      </p:sp>
      <p:pic>
        <p:nvPicPr>
          <p:cNvPr id="3" name="Picture 2" descr="debug_timeseri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2287" y="1188720"/>
            <a:ext cx="11247120" cy="4183902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1127729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2800" b="1">
                <a:solidFill>
                  <a:srgbClr val="0F172A"/>
                </a:solidFill>
              </a:rPr>
              <a:t>Naches — analyzer interpretation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188720"/>
            <a:ext cx="11277295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b="1" sz="1400">
                <a:solidFill>
                  <a:srgbClr val="2C7FB8"/>
                </a:solidFill>
              </a:rPr>
              <a:t>finding:  </a:t>
            </a:r>
            <a:r>
              <a:rPr sz="1400">
                <a:solidFill>
                  <a:srgbClr val="0F172A"/>
                </a:solidFill>
              </a:rPr>
              <a:t>precip is quantized to 2 value(s) [793, 1373] mm/yr — coarse DATM forcing, NOT elevation-resolved</a:t>
            </a:r>
          </a:p>
          <a:p>
            <a:pPr>
              <a:spcAft>
                <a:spcPts val="600"/>
              </a:spcAft>
            </a:pPr>
            <a:r>
              <a:rPr b="1" sz="1400">
                <a:solidFill>
                  <a:srgbClr val="2C7FB8"/>
                </a:solidFill>
              </a:rPr>
              <a:t>finding:  </a:t>
            </a:r>
            <a:r>
              <a:rPr sz="1400">
                <a:solidFill>
                  <a:srgbClr val="0F172A"/>
                </a:solidFill>
              </a:rPr>
              <a:t>recharge tracks precip (r=0.908) more than elevation (r=0.598) — response is forcing/soil-controlled</a:t>
            </a:r>
          </a:p>
          <a:p>
            <a:pPr>
              <a:spcAft>
                <a:spcPts val="600"/>
              </a:spcAft>
            </a:pPr>
            <a:r>
              <a:rPr b="1" sz="1400">
                <a:solidFill>
                  <a:srgbClr val="2C7FB8"/>
                </a:solidFill>
              </a:rPr>
              <a:t>finding:  </a:t>
            </a:r>
            <a:r>
              <a:rPr sz="1400">
                <a:solidFill>
                  <a:srgbClr val="0F172A"/>
                </a:solidFill>
              </a:rPr>
              <a:t>linear elevation fit is weak (r2=0.358) — the elevation 'gradient' is not a reliable summary</a:t>
            </a:r>
          </a:p>
          <a:p>
            <a:pPr>
              <a:spcAft>
                <a:spcPts val="600"/>
              </a:spcAft>
            </a:pPr>
            <a:r>
              <a:rPr b="1" sz="1400">
                <a:solidFill>
                  <a:srgbClr val="2C7FB8"/>
                </a:solidFill>
              </a:rPr>
              <a:t>finding:  </a:t>
            </a:r>
            <a:r>
              <a:rPr sz="1400">
                <a:solidFill>
                  <a:srgbClr val="0F172A"/>
                </a:solidFill>
              </a:rPr>
              <a:t>soil control (forcing held at 1373 mm/yr, 7 columns): strongest predictor = recharge_vs_clay_max (r=-0.906)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1127729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2800" b="1">
                <a:solidFill>
                  <a:srgbClr val="0F172A"/>
                </a:solidFill>
              </a:rPr>
              <a:t>Naches — evaluation vs observations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868680"/>
            <a:ext cx="1127729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300" b="0">
                <a:solidFill>
                  <a:srgbClr val="475569"/>
                </a:solidFill>
              </a:rPr>
              <a:t>what could be compared honestly, and what still blocks rigorous validation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43000"/>
            <a:ext cx="11277295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b="1" sz="1200">
                <a:solidFill>
                  <a:srgbClr val="2C7FB8"/>
                </a:solidFill>
              </a:rPr>
              <a:t>in-domain obs:  </a:t>
            </a:r>
            <a:r>
              <a:rPr sz="1200">
                <a:solidFill>
                  <a:srgbClr val="0F172A"/>
                </a:solidFill>
              </a:rPr>
              <a:t>SNOTEL 6 · stream gages 93 · GW wells 200 (9/10 sampled have records)</a:t>
            </a:r>
          </a:p>
          <a:p>
            <a:pPr>
              <a:spcAft>
                <a:spcPts val="600"/>
              </a:spcAft>
            </a:pPr>
            <a:r>
              <a:rPr b="1" sz="1200">
                <a:solidFill>
                  <a:srgbClr val="2C7FB8"/>
                </a:solidFill>
              </a:rPr>
              <a:t>✓ COMPARED — water-table depth:  </a:t>
            </a:r>
            <a:r>
              <a:rPr sz="1200">
                <a:solidFill>
                  <a:srgbClr val="0F172A"/>
                </a:solidFill>
              </a:rPr>
              <a:t>model ZWT median 8.31 m vs Fan 1.18 m vs observed wells 15.23 m (median; n=9)</a:t>
            </a:r>
          </a:p>
          <a:p>
            <a:pPr>
              <a:spcAft>
                <a:spcPts val="600"/>
              </a:spcAft>
            </a:pPr>
            <a:r>
              <a:rPr b="1" sz="1200">
                <a:solidFill>
                  <a:srgbClr val="2C7FB8"/>
                </a:solidFill>
              </a:rPr>
              <a:t>✓ COMPARED — streamflow (water yield):  </a:t>
            </a:r>
            <a:r>
              <a:rPr sz="1200">
                <a:solidFill>
                  <a:srgbClr val="0F172A"/>
                </a:solidFill>
              </a:rPr>
              <a:t>modeled yield 557.8 mm/yr vs observed specific discharge 1426.8 mm/yr (American River Near Nile, Wa)</a:t>
            </a:r>
          </a:p>
          <a:p>
            <a:pPr>
              <a:spcAft>
                <a:spcPts val="600"/>
              </a:spcAft>
            </a:pPr>
            <a:r>
              <a:rPr b="1" sz="1200">
                <a:solidFill>
                  <a:srgbClr val="2C7FB8"/>
                </a:solidFill>
              </a:rPr>
              <a:t>✓ COMPARED — streamflow (daily hydrograph):  </a:t>
            </a:r>
            <a:r>
              <a:rPr sz="1200">
                <a:solidFill>
                  <a:srgbClr val="0F172A"/>
                </a:solidFill>
              </a:rPr>
              <a:t>NSE=-1.127, KGE=-0.567 (r=0.052, variability α=0.182, bias β=0.057) — column-mean QOVER+QDRAI vs gauge</a:t>
            </a:r>
          </a:p>
          <a:p>
            <a:pPr>
              <a:spcAft>
                <a:spcPts val="600"/>
              </a:spcAft>
            </a:pPr>
            <a:r>
              <a:rPr b="1" sz="1200">
                <a:solidFill>
                  <a:srgbClr val="2C7FB8"/>
                </a:solidFill>
              </a:rPr>
              <a:t>· context-only — snow water equivalent:  </a:t>
            </a:r>
            <a:r>
              <a:rPr sz="1200">
                <a:solidFill>
                  <a:srgbClr val="0F172A"/>
                </a:solidFill>
              </a:rPr>
              <a:t>observed peak SWE 645–1981 mm across stations vs column forcing precip 793, 1373 mm/yr — this run predates SWE (H2OSNO) in the history output  — needs: snow/SWE history output (default since 2026-07) + elevation-downscaled forcing</a:t>
            </a:r>
          </a:p>
        </p:txBody>
      </p:sp>
      <p:pic>
        <p:nvPicPr>
          <p:cNvPr id="5" name="Picture 4" descr="valida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49698" y="3383280"/>
            <a:ext cx="3892298" cy="301752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6446520"/>
            <a:ext cx="1127729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950" b="0">
                <a:solidFill>
                  <a:srgbClr val="475569"/>
                </a:solidFill>
              </a:rPr>
              <a:t>Metrics — NSE: 1=perfect, 0=no better than the observed mean, &lt;0 worse than the mean.  KGE: 1=perfect; components r (timing correlation), α (variability ratio σm/σo), β (volume ratio μm/μo).  Specific discharge = gauge flow ÷ drainage area, making a gauge comparable to 1-D columns (mm/yr or mm/day).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1127729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2800" b="1">
                <a:solidFill>
                  <a:srgbClr val="0F172A"/>
                </a:solidFill>
              </a:rPr>
              <a:t>Case 3 — Walla Walla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868680"/>
            <a:ext cx="1127729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300" b="0">
                <a:solidFill>
                  <a:srgbClr val="475569"/>
                </a:solidFill>
              </a:rPr>
              <a:t>HUC 17070102 · 4600.97 km² · elevation 169.4–1675.0 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11277295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800" b="1">
                <a:solidFill>
                  <a:srgbClr val="2C7FB8"/>
                </a:solidFill>
              </a:rPr>
              <a:t>“Partitioning of runoff/recharge in the Walla Walla basin (HUC8 17070102), validate with observations. Thanks”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468880"/>
            <a:ext cx="11277295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b="1" sz="1400">
                <a:solidFill>
                  <a:srgbClr val="2C7FB8"/>
                </a:solidFill>
              </a:rPr>
              <a:t>goal:  </a:t>
            </a:r>
            <a:r>
              <a:rPr sz="1400">
                <a:solidFill>
                  <a:srgbClr val="0F172A"/>
                </a:solidFill>
              </a:rPr>
              <a:t>Mechanistic: quantify column-scale partitioning of precipitation among surface runoff, sub-surface drainage/deep recharge (QDRAI), and ET, and its sensitivity to the levers the stack can pull (soil texture, forcing period)</a:t>
            </a:r>
          </a:p>
          <a:p>
            <a:pPr>
              <a:spcAft>
                <a:spcPts val="600"/>
              </a:spcAft>
            </a:pPr>
            <a:r>
              <a:rPr b="1" sz="1400">
                <a:solidFill>
                  <a:srgbClr val="2C7FB8"/>
                </a:solidFill>
              </a:rPr>
              <a:t>goal:  </a:t>
            </a:r>
            <a:r>
              <a:rPr sz="1400">
                <a:solidFill>
                  <a:srgbClr val="0F172A"/>
                </a:solidFill>
              </a:rPr>
              <a:t>Validation: compare simulated water balance against observed streamflow (integrated), water-table depth, and SNOTEL SWE — to the extent each is feasible in-domain</a:t>
            </a:r>
          </a:p>
          <a:p>
            <a:pPr>
              <a:spcAft>
                <a:spcPts val="600"/>
              </a:spcAft>
            </a:pPr>
            <a:r>
              <a:rPr b="1" sz="1400">
                <a:solidFill>
                  <a:srgbClr val="2C7FB8"/>
                </a:solidFill>
              </a:rPr>
              <a:t>sampling:  </a:t>
            </a:r>
            <a:r>
              <a:rPr sz="1400">
                <a:solidFill>
                  <a:srgbClr val="0F172A"/>
                </a:solidFill>
              </a:rPr>
              <a:t>N=8 — stratified (soil × elevation-band surface data) with forcing-period treatments</a:t>
            </a:r>
          </a:p>
          <a:p>
            <a:pPr>
              <a:spcAft>
                <a:spcPts val="600"/>
              </a:spcAft>
            </a:pPr>
            <a:r>
              <a:rPr b="1" sz="1400">
                <a:solidFill>
                  <a:srgbClr val="2C7FB8"/>
                </a:solidFill>
              </a:rPr>
              <a:t>why N:  </a:t>
            </a:r>
            <a:r>
              <a:rPr sz="1400">
                <a:solidFill>
                  <a:srgbClr val="0F172A"/>
                </a:solidFill>
              </a:rPr>
              <a:t>Four elevation bands give surface-data (soil/PFT) spanning across the basin; sampling ~2 columns per band (dominant + secondary soil where heterogeneity exists once gridded soil is ingested) yields 8. This is NOT an elevation/climate test — forcing is uniform — it spans surface heterogeneity. The forcing-period axis (baseline/wet/drought) is applied as a treatment over the same columns, not as extra columns, to probe partitioning sensitivity to climate variability.</a:t>
            </a:r>
          </a:p>
          <a:p>
            <a:pPr>
              <a:spcAft>
                <a:spcPts val="600"/>
              </a:spcAft>
            </a:pPr>
            <a:r>
              <a:rPr b="1" sz="1400">
                <a:solidFill>
                  <a:srgbClr val="2C7FB8"/>
                </a:solidFill>
              </a:rPr>
              <a:t>feasibility:  </a:t>
            </a:r>
            <a:r>
              <a:rPr sz="1400">
                <a:solidFill>
                  <a:srgbClr val="0F172A"/>
                </a:solidFill>
              </a:rPr>
              <a:t>partial</a:t>
            </a:r>
          </a:p>
          <a:p>
            <a:pPr>
              <a:spcAft>
                <a:spcPts val="600"/>
              </a:spcAft>
            </a:pPr>
            <a:r>
              <a:rPr b="1" sz="1400">
                <a:solidFill>
                  <a:srgbClr val="2C7FB8"/>
                </a:solidFill>
              </a:rPr>
              <a:t>not answerable:  </a:t>
            </a:r>
            <a:r>
              <a:rPr sz="1400">
                <a:solidFill>
                  <a:srgbClr val="0F172A"/>
                </a:solidFill>
              </a:rPr>
              <a:t>Elevation/climate-gradient control on partitioning (snow-dominated headwaters vs. semi-arid lowland) — needs elevation-downscaled forcing</a:t>
            </a:r>
          </a:p>
          <a:p>
            <a:pPr>
              <a:spcAft>
                <a:spcPts val="600"/>
              </a:spcAft>
            </a:pPr>
            <a:r>
              <a:rPr b="1" sz="1400">
                <a:solidFill>
                  <a:srgbClr val="2C7FB8"/>
                </a:solidFill>
              </a:rPr>
              <a:t>not answerable:  </a:t>
            </a:r>
            <a:r>
              <a:rPr sz="1400">
                <a:solidFill>
                  <a:srgbClr val="0F172A"/>
                </a:solidFill>
              </a:rPr>
              <a:t>SNOTEL SWE / montane snowpack validation — needs elevation-downscaled forcing + snow/SWE history output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1127729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2800" b="1">
                <a:solidFill>
                  <a:srgbClr val="0F172A"/>
                </a:solidFill>
              </a:rPr>
              <a:t>Walla Walla — sampling design (Tier-2 expander)</a:t>
            </a:r>
          </a:p>
        </p:txBody>
      </p:sp>
      <p:pic>
        <p:nvPicPr>
          <p:cNvPr id="3" name="Picture 2" descr="sampling_desig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95728" y="1005840"/>
            <a:ext cx="7000239" cy="484632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5943600"/>
            <a:ext cx="11277295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050" b="0">
                <a:solidFill>
                  <a:srgbClr val="475569"/>
                </a:solidFill>
              </a:rPr>
              <a:t>Panels — top-left: chosen columns on the DEM, coloured by elevation band, navy = watershed boundary.  top-right: histogram of the basin's DEM sample (grey = how much terrain sits at each elevation); dashed lines = the equal-interval band edges; coloured ticks = the chosen columns' elevations.  bottom-left: Fan (2013) equilibrium water-table depth at each column.  bottom-right: columns allocated per band — proportional to the band's share of the basin's DEM points (annotated n / points), minimum 1 per band.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1127729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2800" b="1">
                <a:solidFill>
                  <a:srgbClr val="0F172A"/>
                </a:solidFill>
              </a:rPr>
              <a:t>Walla Walla — execution &amp; results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60120"/>
            <a:ext cx="11277295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b="1" sz="1300">
                <a:solidFill>
                  <a:srgbClr val="2C7FB8"/>
                </a:solidFill>
              </a:rPr>
              <a:t>execution:  </a:t>
            </a:r>
            <a:r>
              <a:rPr sz="1300">
                <a:solidFill>
                  <a:srgbClr val="0F172A"/>
                </a:solidFill>
              </a:rPr>
              <a:t>4/4 columns succeeded · ~7 min each (~15 s clone per column, shared executable)</a:t>
            </a:r>
          </a:p>
        </p:txBody>
      </p:sp>
      <p:pic>
        <p:nvPicPr>
          <p:cNvPr id="4" name="Picture 3" descr="elevation_gradi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94783" y="1463040"/>
            <a:ext cx="7402128" cy="2377440"/>
          </a:xfrm>
          <a:prstGeom prst="rect">
            <a:avLst/>
          </a:prstGeom>
        </p:spPr>
      </p:pic>
      <p:pic>
        <p:nvPicPr>
          <p:cNvPr id="5" name="Picture 4" descr="soil_contro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37690" y="3931920"/>
            <a:ext cx="5116315" cy="237744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6400800"/>
            <a:ext cx="11277295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950" b="0">
                <a:solidFill>
                  <a:srgbClr val="475569"/>
                </a:solidFill>
              </a:rPr>
              <a:t>Definitions — recharge = ELM QCHARGE (flux from the soil column to the water table); runoff = QOVER (surface runoff); recharge fraction = QCHARGE/(QCHARGE+QOVER); WTD = ZWT (the column's own water-table depth); forcing = CLM_QIAN (Qian 2006, T62 ≈ 1.9°) precip at the column.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1127729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2800" b="1">
                <a:solidFill>
                  <a:srgbClr val="0F172A"/>
                </a:solidFill>
              </a:rPr>
              <a:t>Walla Walla — results (continued)</a:t>
            </a:r>
          </a:p>
        </p:txBody>
      </p:sp>
      <p:pic>
        <p:nvPicPr>
          <p:cNvPr id="3" name="Picture 2" descr="debug_timeseri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2287" y="1188720"/>
            <a:ext cx="11247120" cy="4183902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1127729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2800" b="1">
                <a:solidFill>
                  <a:srgbClr val="0F172A"/>
                </a:solidFill>
              </a:rPr>
              <a:t>Walla Walla — analyzer interpretation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188720"/>
            <a:ext cx="11277295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b="1" sz="1400">
                <a:solidFill>
                  <a:srgbClr val="2C7FB8"/>
                </a:solidFill>
              </a:rPr>
              <a:t>finding:  </a:t>
            </a:r>
            <a:r>
              <a:rPr sz="1400">
                <a:solidFill>
                  <a:srgbClr val="0F172A"/>
                </a:solidFill>
              </a:rPr>
              <a:t>precip is quantized to 1 value(s) [530] mm/yr — coarse DATM forcing, NOT elevation-resolved</a:t>
            </a:r>
          </a:p>
          <a:p>
            <a:pPr>
              <a:spcAft>
                <a:spcPts val="600"/>
              </a:spcAft>
            </a:pPr>
            <a:r>
              <a:rPr b="1" sz="1400">
                <a:solidFill>
                  <a:srgbClr val="2C7FB8"/>
                </a:solidFill>
              </a:rPr>
              <a:t>finding:  </a:t>
            </a:r>
            <a:r>
              <a:rPr sz="1400">
                <a:solidFill>
                  <a:srgbClr val="0F172A"/>
                </a:solidFill>
              </a:rPr>
              <a:t>linear elevation fit is weak (r2=0.196) — the elevation 'gradient' is not a reliable summary</a:t>
            </a:r>
          </a:p>
          <a:p>
            <a:pPr>
              <a:spcAft>
                <a:spcPts val="600"/>
              </a:spcAft>
            </a:pPr>
            <a:r>
              <a:rPr b="1" sz="1400">
                <a:solidFill>
                  <a:srgbClr val="2C7FB8"/>
                </a:solidFill>
              </a:rPr>
              <a:t>finding:  </a:t>
            </a:r>
            <a:r>
              <a:rPr sz="1400">
                <a:solidFill>
                  <a:srgbClr val="0F172A"/>
                </a:solidFill>
              </a:rPr>
              <a:t>soil control (forcing held at 530 mm/yr, 8 columns): strongest predictor = recharge_vs_ksat_min (r=0.993)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1127729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2800" b="1">
                <a:solidFill>
                  <a:srgbClr val="0F172A"/>
                </a:solidFill>
              </a:rPr>
              <a:t>Walla Walla — evaluation vs observations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868680"/>
            <a:ext cx="1127729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300" b="0">
                <a:solidFill>
                  <a:srgbClr val="475569"/>
                </a:solidFill>
              </a:rPr>
              <a:t>what could be compared honestly, and what still blocks rigorous validation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43000"/>
            <a:ext cx="11277295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b="1" sz="1200">
                <a:solidFill>
                  <a:srgbClr val="2C7FB8"/>
                </a:solidFill>
              </a:rPr>
              <a:t>in-domain obs:  </a:t>
            </a:r>
            <a:r>
              <a:rPr sz="1200">
                <a:solidFill>
                  <a:srgbClr val="0F172A"/>
                </a:solidFill>
              </a:rPr>
              <a:t>SNOTEL 2 · stream gages 159 · GW wells 200 (4/10 sampled have records)</a:t>
            </a:r>
          </a:p>
          <a:p>
            <a:pPr>
              <a:spcAft>
                <a:spcPts val="600"/>
              </a:spcAft>
            </a:pPr>
            <a:r>
              <a:rPr b="1" sz="1200">
                <a:solidFill>
                  <a:srgbClr val="2C7FB8"/>
                </a:solidFill>
              </a:rPr>
              <a:t>✓ COMPARED — water-table depth:  </a:t>
            </a:r>
            <a:r>
              <a:rPr sz="1200">
                <a:solidFill>
                  <a:srgbClr val="0F172A"/>
                </a:solidFill>
              </a:rPr>
              <a:t>model ZWT median 8.8 m vs Fan 43.71 m vs observed wells 63.94 m (median; n=4)</a:t>
            </a:r>
          </a:p>
          <a:p>
            <a:pPr>
              <a:spcAft>
                <a:spcPts val="600"/>
              </a:spcAft>
            </a:pPr>
            <a:r>
              <a:rPr b="1" sz="1200">
                <a:solidFill>
                  <a:srgbClr val="2C7FB8"/>
                </a:solidFill>
              </a:rPr>
              <a:t>✓ COMPARED — streamflow (water yield):  </a:t>
            </a:r>
            <a:r>
              <a:rPr sz="1200">
                <a:solidFill>
                  <a:srgbClr val="0F172A"/>
                </a:solidFill>
              </a:rPr>
              <a:t>modeled yield 40.7 mm/yr vs observed specific discharge 151.6, 714.9, 404.3, 158.1 mm/yr (Tucannon River Near Starbuck, Wa, Mill Creek Near Walla Walla, Wa, Mill Creek At Walla Walla, Wa, Walla Walla River Near Touchet, Wa)</a:t>
            </a:r>
          </a:p>
          <a:p>
            <a:pPr>
              <a:spcAft>
                <a:spcPts val="600"/>
              </a:spcAft>
            </a:pPr>
            <a:r>
              <a:rPr b="1" sz="1200">
                <a:solidFill>
                  <a:srgbClr val="2C7FB8"/>
                </a:solidFill>
              </a:rPr>
              <a:t>✓ COMPARED — streamflow (daily hydrograph):  </a:t>
            </a:r>
            <a:r>
              <a:rPr sz="1200">
                <a:solidFill>
                  <a:srgbClr val="0F172A"/>
                </a:solidFill>
              </a:rPr>
              <a:t>NSE=-1.462, KGE=-0.151 (r=0.235, variability α=0.702, bias β=0.193) — column-mean QOVER+QDRAI vs gauge</a:t>
            </a:r>
          </a:p>
          <a:p>
            <a:pPr>
              <a:spcAft>
                <a:spcPts val="600"/>
              </a:spcAft>
            </a:pPr>
            <a:r>
              <a:rPr b="1" sz="1200">
                <a:solidFill>
                  <a:srgbClr val="2C7FB8"/>
                </a:solidFill>
              </a:rPr>
              <a:t>· context-only — snow water equivalent:  </a:t>
            </a:r>
            <a:r>
              <a:rPr sz="1200">
                <a:solidFill>
                  <a:srgbClr val="0F172A"/>
                </a:solidFill>
              </a:rPr>
              <a:t>observed peak SWE 843–843 mm across stations vs column forcing precip 530 mm/yr — this run predates SWE (H2OSNO) in the history output  — needs: snow/SWE history output (default since 2026-07) + elevation-downscaled forcing</a:t>
            </a:r>
          </a:p>
        </p:txBody>
      </p:sp>
      <p:pic>
        <p:nvPicPr>
          <p:cNvPr id="5" name="Picture 4" descr="valida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02044" y="3383280"/>
            <a:ext cx="3987607" cy="301752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6446520"/>
            <a:ext cx="1127729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950" b="0">
                <a:solidFill>
                  <a:srgbClr val="475569"/>
                </a:solidFill>
              </a:rPr>
              <a:t>Metrics — NSE: 1=perfect, 0=no better than the observed mean, &lt;0 worse than the mean.  KGE: 1=perfect; components r (timing correlation), α (variability ratio σm/σo), β (volume ratio μm/μo).  Specific discharge = gauge flow ÷ drainage area, making a gauge comparable to 1-D columns (mm/yr or mm/day).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1127729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2800" b="1">
                <a:solidFill>
                  <a:srgbClr val="0F172A"/>
                </a:solidFill>
              </a:rPr>
              <a:t>Case 4 — Controlled soil sweep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868680"/>
            <a:ext cx="1127729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300" b="0">
                <a:solidFill>
                  <a:srgbClr val="475569"/>
                </a:solidFill>
              </a:rPr>
              <a:t>7 uniform-soil treatments (clay05, clay10, clay18, clay27, clay35, clay45, clay55) at one site — forcing, vegetation and location held identical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11277295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800" b="1">
                <a:solidFill>
                  <a:srgbClr val="2C7FB8"/>
                </a:solidFill>
              </a:rPr>
              <a:t>“Controlled experiment: how does soil texture (clay content) control the runoff/recharge partitioning?”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468880"/>
            <a:ext cx="11277295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b="1" sz="1400">
                <a:solidFill>
                  <a:srgbClr val="2C7FB8"/>
                </a:solidFill>
              </a:rPr>
              <a:t>design:  </a:t>
            </a:r>
            <a:r>
              <a:rPr sz="1400">
                <a:solidFill>
                  <a:srgbClr val="0F172A"/>
                </a:solidFill>
              </a:rPr>
              <a:t>conceptual archetype — vary ONE factor (clay 5→55%), hold everything else fixed; the cleanest isolation of soil control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1127729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2800" b="1">
                <a:solidFill>
                  <a:srgbClr val="0F172A"/>
                </a:solidFill>
              </a:rPr>
              <a:t>Controlled soil sweep — execution &amp; results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60120"/>
            <a:ext cx="11277295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b="1" sz="1300">
                <a:solidFill>
                  <a:srgbClr val="2C7FB8"/>
                </a:solidFill>
              </a:rPr>
              <a:t>execution:  </a:t>
            </a:r>
            <a:r>
              <a:rPr sz="1300">
                <a:solidFill>
                  <a:srgbClr val="0F172A"/>
                </a:solidFill>
              </a:rPr>
              <a:t>7/7 columns succeeded · ~3 min each (~15 s clone per column, shared executable)</a:t>
            </a:r>
          </a:p>
        </p:txBody>
      </p:sp>
      <p:pic>
        <p:nvPicPr>
          <p:cNvPr id="4" name="Picture 3" descr="soil_contro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37690" y="1463040"/>
            <a:ext cx="5116315" cy="2377440"/>
          </a:xfrm>
          <a:prstGeom prst="rect">
            <a:avLst/>
          </a:prstGeom>
        </p:spPr>
      </p:pic>
      <p:pic>
        <p:nvPicPr>
          <p:cNvPr id="5" name="Picture 4" descr="debug_timeserie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00343" y="3931920"/>
            <a:ext cx="6391008" cy="237744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6400800"/>
            <a:ext cx="11277295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950" b="0">
                <a:solidFill>
                  <a:srgbClr val="475569"/>
                </a:solidFill>
              </a:rPr>
              <a:t>Definitions — recharge = ELM QCHARGE (flux from the soil column to the water table); runoff = QOVER (surface runoff); recharge fraction = QCHARGE/(QCHARGE+QOVER); WTD = ZWT (the column's own water-table depth); forcing = CLM_QIAN (Qian 2006, T62 ≈ 1.9°) precip at the column.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1127729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2800" b="1">
                <a:solidFill>
                  <a:srgbClr val="0F172A"/>
                </a:solidFill>
              </a:rPr>
              <a:t>Controlled soil sweep — analyzer interpretation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188720"/>
            <a:ext cx="11277295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b="1" sz="1400">
                <a:solidFill>
                  <a:srgbClr val="2C7FB8"/>
                </a:solidFill>
              </a:rPr>
              <a:t>finding:  </a:t>
            </a:r>
            <a:r>
              <a:rPr sz="1400">
                <a:solidFill>
                  <a:srgbClr val="0F172A"/>
                </a:solidFill>
              </a:rPr>
              <a:t>soil control (forcing held at 1373 mm/yr, 7 columns): strongest predictor = recharge_vs_clay_max (r=-0.932)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1127729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2800" b="1">
                <a:solidFill>
                  <a:srgbClr val="0F172A"/>
                </a:solidFill>
              </a:rPr>
              <a:t>Cross-study synthesis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868680"/>
            <a:ext cx="1127729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300" b="0">
                <a:solidFill>
                  <a:srgbClr val="475569"/>
                </a:solidFill>
              </a:rPr>
              <a:t>same framework, three experiments — the control on recharge/runoff partitioning depends on climate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463040"/>
          <a:ext cx="11247120" cy="2286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26080"/>
                <a:gridCol w="1097280"/>
                <a:gridCol w="1828800"/>
                <a:gridCol w="2011680"/>
                <a:gridCol w="3383280"/>
              </a:tblGrid>
              <a:tr h="457200">
                <a:tc>
                  <a:txBody>
                    <a:bodyPr/>
                    <a:lstStyle/>
                    <a:p>
                      <a:pPr>
                        <a:defRPr sz="1300" b="1"/>
                      </a:pPr>
                      <a:r>
                        <a:t>study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 b="1"/>
                      </a:pPr>
                      <a:r>
                        <a:t>columns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 b="1"/>
                      </a:pPr>
                      <a:r>
                        <a:t>forcing (mm/yr)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 b="1"/>
                      </a:pPr>
                      <a:r>
                        <a:t>recharge (mm/yr)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 b="1"/>
                      </a:pPr>
                      <a:r>
                        <a:t>strongest control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300" b="0"/>
                      </a:pPr>
                      <a:r>
                        <a:t>Naches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 b="0"/>
                      </a:pPr>
                      <a:r>
                        <a:t>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 b="0"/>
                      </a:pPr>
                      <a:r>
                        <a:t>793, 1373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 b="0"/>
                      </a:pPr>
                      <a:r>
                        <a:t>-0.1 → 648.3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 b="0"/>
                      </a:pPr>
                      <a:r>
                        <a:t>recharge_vs_clay_max (r=-0.877)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300" b="0"/>
                      </a:pPr>
                      <a:r>
                        <a:t>Naches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 b="0"/>
                      </a:pPr>
                      <a:r>
                        <a:t>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 b="0"/>
                      </a:pPr>
                      <a:r>
                        <a:t>793, 1373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 b="0"/>
                      </a:pPr>
                      <a:r>
                        <a:t>-0.0 → 648.3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 b="0"/>
                      </a:pPr>
                      <a:r>
                        <a:t>recharge_vs_clay_max (r=-0.906)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300" b="0"/>
                      </a:pPr>
                      <a:r>
                        <a:t>Walla Walla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 b="0"/>
                      </a:pPr>
                      <a:r>
                        <a:t>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 b="0"/>
                      </a:pPr>
                      <a:r>
                        <a:t>530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 b="0"/>
                      </a:pPr>
                      <a:r>
                        <a:t>-0.7 → 94.8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 b="0"/>
                      </a:pPr>
                      <a:r>
                        <a:t>recharge_vs_ksat_min (r=0.993)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300" b="0"/>
                      </a:pPr>
                      <a:r>
                        <a:t>Controlled soil sweep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 b="0"/>
                      </a:pPr>
                      <a:r>
                        <a:t>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 b="0"/>
                      </a:pPr>
                      <a:r>
                        <a:t>1373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 b="0"/>
                      </a:pPr>
                      <a:r>
                        <a:t>8.6 → 754.7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 b="0"/>
                      </a:pPr>
                      <a:r>
                        <a:t>recharge_vs_clay_max (r=-0.932)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457200" y="4114800"/>
            <a:ext cx="11277295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b="1" sz="1400">
                <a:solidFill>
                  <a:srgbClr val="2C7FB8"/>
                </a:solidFill>
              </a:rPr>
              <a:t>wet basin:  </a:t>
            </a:r>
            <a:r>
              <a:rPr sz="1400">
                <a:solidFill>
                  <a:srgbClr val="0F172A"/>
                </a:solidFill>
              </a:rPr>
              <a:t>recharge is CLAY-limited — water is ample; the impeding layer decides</a:t>
            </a:r>
          </a:p>
          <a:p>
            <a:pPr>
              <a:spcAft>
                <a:spcPts val="600"/>
              </a:spcAft>
            </a:pPr>
            <a:r>
              <a:rPr b="1" sz="1400">
                <a:solidFill>
                  <a:srgbClr val="2C7FB8"/>
                </a:solidFill>
              </a:rPr>
              <a:t>dry basin:  </a:t>
            </a:r>
            <a:r>
              <a:rPr sz="1400">
                <a:solidFill>
                  <a:srgbClr val="0F172A"/>
                </a:solidFill>
              </a:rPr>
              <a:t>recharge is Ksat-limited (threshold) — only the most permeable soil recharges</a:t>
            </a:r>
          </a:p>
          <a:p>
            <a:pPr>
              <a:spcAft>
                <a:spcPts val="600"/>
              </a:spcAft>
            </a:pPr>
            <a:r>
              <a:rPr b="1" sz="1400">
                <a:solidFill>
                  <a:srgbClr val="2C7FB8"/>
                </a:solidFill>
              </a:rPr>
              <a:t>controlled sweep:  </a:t>
            </a:r>
            <a:r>
              <a:rPr sz="1400">
                <a:solidFill>
                  <a:srgbClr val="0F172A"/>
                </a:solidFill>
              </a:rPr>
              <a:t>confirms causality: clay 5→55% collapses recharge 755→9 mm/yr with everything else fixed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1127729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2800" b="1">
                <a:solidFill>
                  <a:srgbClr val="0F172A"/>
                </a:solidFill>
              </a:rPr>
              <a:t>Appendix A1 — Naches: columns &amp; results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868680"/>
            <a:ext cx="1127729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300" b="0">
                <a:solidFill>
                  <a:srgbClr val="475569"/>
                </a:solidFill>
              </a:rPr>
              <a:t>characteristics from the real data (SSURGO soil, Fan 2013 WTD, Qian forcing) · results are annual means (mm/yr)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365760" y="1325880"/>
          <a:ext cx="11460175" cy="422452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41834"/>
                <a:gridCol w="1041834"/>
                <a:gridCol w="1041834"/>
                <a:gridCol w="1041834"/>
                <a:gridCol w="1041834"/>
                <a:gridCol w="1041834"/>
                <a:gridCol w="1041834"/>
                <a:gridCol w="1041834"/>
                <a:gridCol w="1041834"/>
                <a:gridCol w="1041834"/>
                <a:gridCol w="1041835"/>
              </a:tblGrid>
              <a:tr h="384048">
                <a:tc>
                  <a:txBody>
                    <a:bodyPr/>
                    <a:lstStyle/>
                    <a:p>
                      <a:pPr>
                        <a:defRPr sz="1100" b="1"/>
                      </a:pPr>
                      <a:r>
                        <a:t>column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1"/>
                      </a:pPr>
                      <a:r>
                        <a:t>elev 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1"/>
                      </a:pPr>
                      <a:r>
                        <a:t>top soil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1"/>
                      </a:pPr>
                      <a:r>
                        <a:t>clay%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1"/>
                      </a:pPr>
                      <a:r>
                        <a:t>Ksat µm/s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1"/>
                      </a:pPr>
                      <a:r>
                        <a:t>Fan WTD 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1"/>
                      </a:pPr>
                      <a:r>
                        <a:t>precip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1"/>
                      </a:pPr>
                      <a:r>
                        <a:t>recharge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1"/>
                      </a:pPr>
                      <a:r>
                        <a:t>runoff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1"/>
                      </a:pPr>
                      <a:r>
                        <a:t>rech.frac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1"/>
                      </a:pPr>
                      <a:r>
                        <a:t>ZWT m</a:t>
                      </a:r>
                    </a:p>
                  </a:txBody>
                  <a:tcPr/>
                </a:tc>
              </a:tr>
              <a:tr h="384048"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col_01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750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loam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32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3.0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61.5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793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-0.0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53.4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-0.00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8.80</a:t>
                      </a:r>
                    </a:p>
                  </a:txBody>
                  <a:tcPr/>
                </a:tc>
              </a:tr>
              <a:tr h="384048"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col_04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924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loam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31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3.0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4.7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793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-0.1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56.3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-0.00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8.80</a:t>
                      </a:r>
                    </a:p>
                  </a:txBody>
                  <a:tcPr/>
                </a:tc>
              </a:tr>
              <a:tr h="384048"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col_02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943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loam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2.5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0.7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1373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346.7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83.1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0.81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8.71</a:t>
                      </a:r>
                    </a:p>
                  </a:txBody>
                  <a:tcPr/>
                </a:tc>
              </a:tr>
              <a:tr h="384048"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col_03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1031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sandy loam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14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9.0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0.9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1373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576.0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85.2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0.87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8.31</a:t>
                      </a:r>
                    </a:p>
                  </a:txBody>
                  <a:tcPr/>
                </a:tc>
              </a:tr>
              <a:tr h="384048"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col_05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1186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loam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28.0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0.2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1373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576.1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91.4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0.86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8.25</a:t>
                      </a:r>
                    </a:p>
                  </a:txBody>
                  <a:tcPr/>
                </a:tc>
              </a:tr>
              <a:tr h="384048"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col_06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1249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loam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28.0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22.2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1373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648.3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93.5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0.87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8.10</a:t>
                      </a:r>
                    </a:p>
                  </a:txBody>
                  <a:tcPr/>
                </a:tc>
              </a:tr>
              <a:tr h="384048"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col_08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1428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loam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21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9.0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35.2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1373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309.5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73.2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0.81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8.73</a:t>
                      </a:r>
                    </a:p>
                  </a:txBody>
                  <a:tcPr/>
                </a:tc>
              </a:tr>
              <a:tr h="384048"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col_07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1485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sandy loam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9.0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0.2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1373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576.0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85.2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0.87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8.31</a:t>
                      </a:r>
                    </a:p>
                  </a:txBody>
                  <a:tcPr/>
                </a:tc>
              </a:tr>
              <a:tr h="384048"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col_09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1578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sandy loam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9.0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145.0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1373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576.1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85.2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0.87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8.31</a:t>
                      </a:r>
                    </a:p>
                  </a:txBody>
                  <a:tcPr/>
                </a:tc>
              </a:tr>
              <a:tr h="384048"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col_10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1868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loam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28.0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1.5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1373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507.5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78.8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0.87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8.44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1127729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2800" b="1">
                <a:solidFill>
                  <a:srgbClr val="0F172A"/>
                </a:solidFill>
              </a:rPr>
              <a:t>Appendix A2 — Naches: columns &amp; results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868680"/>
            <a:ext cx="1127729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300" b="0">
                <a:solidFill>
                  <a:srgbClr val="475569"/>
                </a:solidFill>
              </a:rPr>
              <a:t>characteristics from the real data (SSURGO soil, Fan 2013 WTD, Qian forcing) · results are annual means (mm/yr)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365760" y="1325880"/>
          <a:ext cx="11460175" cy="345643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41834"/>
                <a:gridCol w="1041834"/>
                <a:gridCol w="1041834"/>
                <a:gridCol w="1041834"/>
                <a:gridCol w="1041834"/>
                <a:gridCol w="1041834"/>
                <a:gridCol w="1041834"/>
                <a:gridCol w="1041834"/>
                <a:gridCol w="1041834"/>
                <a:gridCol w="1041834"/>
                <a:gridCol w="1041835"/>
              </a:tblGrid>
              <a:tr h="384048">
                <a:tc>
                  <a:txBody>
                    <a:bodyPr/>
                    <a:lstStyle/>
                    <a:p>
                      <a:pPr>
                        <a:defRPr sz="1100" b="1"/>
                      </a:pPr>
                      <a:r>
                        <a:t>column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1"/>
                      </a:pPr>
                      <a:r>
                        <a:t>elev 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1"/>
                      </a:pPr>
                      <a:r>
                        <a:t>top soil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1"/>
                      </a:pPr>
                      <a:r>
                        <a:t>clay%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1"/>
                      </a:pPr>
                      <a:r>
                        <a:t>Ksat µm/s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1"/>
                      </a:pPr>
                      <a:r>
                        <a:t>Fan WTD 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1"/>
                      </a:pPr>
                      <a:r>
                        <a:t>precip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1"/>
                      </a:pPr>
                      <a:r>
                        <a:t>recharge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1"/>
                      </a:pPr>
                      <a:r>
                        <a:t>runoff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1"/>
                      </a:pPr>
                      <a:r>
                        <a:t>rech.frac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1"/>
                      </a:pPr>
                      <a:r>
                        <a:t>ZWT m</a:t>
                      </a:r>
                    </a:p>
                  </a:txBody>
                  <a:tcPr/>
                </a:tc>
              </a:tr>
              <a:tr h="384048"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col_01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750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loam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32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3.0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61.5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793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-0.0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53.4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-0.00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8.80</a:t>
                      </a:r>
                    </a:p>
                  </a:txBody>
                  <a:tcPr/>
                </a:tc>
              </a:tr>
              <a:tr h="384048"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col_02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943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loam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2.5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0.7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1373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346.7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83.1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0.81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8.71</a:t>
                      </a:r>
                    </a:p>
                  </a:txBody>
                  <a:tcPr/>
                </a:tc>
              </a:tr>
              <a:tr h="384048"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col_03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1031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sandy loam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14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9.0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0.9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1373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576.0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85.2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0.87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8.31</a:t>
                      </a:r>
                    </a:p>
                  </a:txBody>
                  <a:tcPr/>
                </a:tc>
              </a:tr>
              <a:tr h="384048"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col_04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1186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loam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28.0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0.2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1373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576.1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91.4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0.86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8.25</a:t>
                      </a:r>
                    </a:p>
                  </a:txBody>
                  <a:tcPr/>
                </a:tc>
              </a:tr>
              <a:tr h="384048"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col_05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1249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loam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28.0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22.2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1373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648.3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93.5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0.87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8.10</a:t>
                      </a:r>
                    </a:p>
                  </a:txBody>
                  <a:tcPr/>
                </a:tc>
              </a:tr>
              <a:tr h="384048"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col_06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1485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sandy loam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9.0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0.2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1373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576.0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85.2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0.87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8.31</a:t>
                      </a:r>
                    </a:p>
                  </a:txBody>
                  <a:tcPr/>
                </a:tc>
              </a:tr>
              <a:tr h="384048"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col_07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1578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sandy loam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9.0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145.0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1373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576.1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85.2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0.87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8.31</a:t>
                      </a:r>
                    </a:p>
                  </a:txBody>
                  <a:tcPr/>
                </a:tc>
              </a:tr>
              <a:tr h="384048"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col_08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1868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loam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28.0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1.5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1373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507.5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78.8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0.87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8.44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1127729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2800" b="1">
                <a:solidFill>
                  <a:srgbClr val="0F172A"/>
                </a:solidFill>
              </a:rPr>
              <a:t>Appendix A3 — Walla Walla: columns &amp; results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868680"/>
            <a:ext cx="1127729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300" b="0">
                <a:solidFill>
                  <a:srgbClr val="475569"/>
                </a:solidFill>
              </a:rPr>
              <a:t>characteristics from the real data (SSURGO soil, Fan 2013 WTD, Qian forcing) · results are annual means (mm/yr)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365760" y="1325880"/>
          <a:ext cx="11460175" cy="345643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41834"/>
                <a:gridCol w="1041834"/>
                <a:gridCol w="1041834"/>
                <a:gridCol w="1041834"/>
                <a:gridCol w="1041834"/>
                <a:gridCol w="1041834"/>
                <a:gridCol w="1041834"/>
                <a:gridCol w="1041834"/>
                <a:gridCol w="1041834"/>
                <a:gridCol w="1041834"/>
                <a:gridCol w="1041835"/>
              </a:tblGrid>
              <a:tr h="384048">
                <a:tc>
                  <a:txBody>
                    <a:bodyPr/>
                    <a:lstStyle/>
                    <a:p>
                      <a:pPr>
                        <a:defRPr sz="1100" b="1"/>
                      </a:pPr>
                      <a:r>
                        <a:t>column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1"/>
                      </a:pPr>
                      <a:r>
                        <a:t>elev 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1"/>
                      </a:pPr>
                      <a:r>
                        <a:t>top soil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1"/>
                      </a:pPr>
                      <a:r>
                        <a:t>clay%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1"/>
                      </a:pPr>
                      <a:r>
                        <a:t>Ksat µm/s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1"/>
                      </a:pPr>
                      <a:r>
                        <a:t>Fan WTD 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1"/>
                      </a:pPr>
                      <a:r>
                        <a:t>precip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1"/>
                      </a:pPr>
                      <a:r>
                        <a:t>recharge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1"/>
                      </a:pPr>
                      <a:r>
                        <a:t>runoff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1"/>
                      </a:pPr>
                      <a:r>
                        <a:t>rech.frac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1"/>
                      </a:pPr>
                      <a:r>
                        <a:t>ZWT m</a:t>
                      </a:r>
                    </a:p>
                  </a:txBody>
                  <a:tcPr/>
                </a:tc>
              </a:tr>
              <a:tr h="384048"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col_02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138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sandy loam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92.0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38.1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530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94.8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38.5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0.71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8.65</a:t>
                      </a:r>
                    </a:p>
                  </a:txBody>
                  <a:tcPr/>
                </a:tc>
              </a:tr>
              <a:tr h="384048"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col_01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351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silt loam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14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9.0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75.9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530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-0.7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27.9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-0.03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8.80</a:t>
                      </a:r>
                    </a:p>
                  </a:txBody>
                  <a:tcPr/>
                </a:tc>
              </a:tr>
              <a:tr h="384048"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col_03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416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silt loam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14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9.0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49.3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530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-0.7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27.9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-0.03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8.80</a:t>
                      </a:r>
                    </a:p>
                  </a:txBody>
                  <a:tcPr/>
                </a:tc>
              </a:tr>
              <a:tr h="384048"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col_04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470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loam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45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0.9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0.0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530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-0.0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26.0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-0.00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8.80</a:t>
                      </a:r>
                    </a:p>
                  </a:txBody>
                  <a:tcPr/>
                </a:tc>
              </a:tr>
              <a:tr h="384048"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col_06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567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silt loam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14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9.0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116.8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530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-0.7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27.8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-0.03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8.80</a:t>
                      </a:r>
                    </a:p>
                  </a:txBody>
                  <a:tcPr/>
                </a:tc>
              </a:tr>
              <a:tr h="384048"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col_05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574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silt loam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22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9.0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97.1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530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-0.1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26.7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-0.00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8.80</a:t>
                      </a:r>
                    </a:p>
                  </a:txBody>
                  <a:tcPr/>
                </a:tc>
              </a:tr>
              <a:tr h="384048"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col_07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1176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loam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31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2.7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0.3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530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-0.5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30.1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-0.02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8.80</a:t>
                      </a:r>
                    </a:p>
                  </a:txBody>
                  <a:tcPr/>
                </a:tc>
              </a:tr>
              <a:tr h="384048"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col_08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1551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loam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28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2.7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12.9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530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-0.1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29.2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-0.00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8.80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1127729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2800" b="1">
                <a:solidFill>
                  <a:srgbClr val="0F172A"/>
                </a:solidFill>
              </a:rPr>
              <a:t>Appendix A4 — Controlled soil sweep: columns &amp; results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868680"/>
            <a:ext cx="1127729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300" b="0">
                <a:solidFill>
                  <a:srgbClr val="475569"/>
                </a:solidFill>
              </a:rPr>
              <a:t>characteristics from the real data (SSURGO soil, Fan 2013 WTD, Qian forcing) · results are annual means (mm/yr)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365760" y="1325880"/>
          <a:ext cx="11460175" cy="307238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41834"/>
                <a:gridCol w="1041834"/>
                <a:gridCol w="1041834"/>
                <a:gridCol w="1041834"/>
                <a:gridCol w="1041834"/>
                <a:gridCol w="1041834"/>
                <a:gridCol w="1041834"/>
                <a:gridCol w="1041834"/>
                <a:gridCol w="1041834"/>
                <a:gridCol w="1041834"/>
                <a:gridCol w="1041835"/>
              </a:tblGrid>
              <a:tr h="384048">
                <a:tc>
                  <a:txBody>
                    <a:bodyPr/>
                    <a:lstStyle/>
                    <a:p>
                      <a:pPr>
                        <a:defRPr sz="1100" b="1"/>
                      </a:pPr>
                      <a:r>
                        <a:t>column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1"/>
                      </a:pPr>
                      <a:r>
                        <a:t>elev 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1"/>
                      </a:pPr>
                      <a:r>
                        <a:t>top soil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1"/>
                      </a:pPr>
                      <a:r>
                        <a:t>clay%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1"/>
                      </a:pPr>
                      <a:r>
                        <a:t>Ksat µm/s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1"/>
                      </a:pPr>
                      <a:r>
                        <a:t>Fan WTD 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1"/>
                      </a:pPr>
                      <a:r>
                        <a:t>precip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1"/>
                      </a:pPr>
                      <a:r>
                        <a:t>recharge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1"/>
                      </a:pPr>
                      <a:r>
                        <a:t>runoff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1"/>
                      </a:pPr>
                      <a:r>
                        <a:t>rech.frac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1"/>
                      </a:pPr>
                      <a:r>
                        <a:t>ZWT m</a:t>
                      </a:r>
                    </a:p>
                  </a:txBody>
                  <a:tcPr/>
                </a:tc>
              </a:tr>
              <a:tr h="384048"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clay05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—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clay5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—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—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1373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754.7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104.3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0.88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7.84</a:t>
                      </a:r>
                    </a:p>
                  </a:txBody>
                  <a:tcPr/>
                </a:tc>
              </a:tr>
              <a:tr h="384048"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clay10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—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clay10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—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—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1373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575.1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88.1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0.87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8.24</a:t>
                      </a:r>
                    </a:p>
                  </a:txBody>
                  <a:tcPr/>
                </a:tc>
              </a:tr>
              <a:tr h="384048"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clay18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—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clay18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18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—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—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1373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318.0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73.5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0.81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8.73</a:t>
                      </a:r>
                    </a:p>
                  </a:txBody>
                  <a:tcPr/>
                </a:tc>
              </a:tr>
              <a:tr h="384048"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clay27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—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clay27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27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—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—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1373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189.4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71.3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0.73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8.76</a:t>
                      </a:r>
                    </a:p>
                  </a:txBody>
                  <a:tcPr/>
                </a:tc>
              </a:tr>
              <a:tr h="384048"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clay35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—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clay35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35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—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—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1373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131.6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71.9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0.65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8.77</a:t>
                      </a:r>
                    </a:p>
                  </a:txBody>
                  <a:tcPr/>
                </a:tc>
              </a:tr>
              <a:tr h="384048"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clay45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—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clay45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45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—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—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1373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67.6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70.0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0.49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8.79</a:t>
                      </a:r>
                    </a:p>
                  </a:txBody>
                  <a:tcPr/>
                </a:tc>
              </a:tr>
              <a:tr h="384048"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clay55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—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clay55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55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—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—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1373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8.6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73.8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0.10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8.80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