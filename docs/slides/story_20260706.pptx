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2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2026-07-06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147" y="1005840"/>
            <a:ext cx="94234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2855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 — Fan warm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147" y="1005840"/>
            <a:ext cx="94234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61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water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808" y="3931920"/>
            <a:ext cx="6736079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NLDAS-2 (0.125°, ~12 km) precip at the column.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driver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5149" y="1188720"/>
            <a:ext cx="660139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wtd_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33906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results (continued)</a:t>
            </a:r>
          </a:p>
        </p:txBody>
      </p:sp>
      <p:pic>
        <p:nvPicPr>
          <p:cNvPr id="3" name="Picture 2" descr="cold_vs_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454" y="1188720"/>
            <a:ext cx="928278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-0.26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The representative Naches profiles are strongly infiltration-dominated: surface runoff is only 0–16% of precipitation (median ~0.14, max 0.27 at col_14), while sub-surface drainage + recharge take the majority (drainage 0.55–0.88 of P where the water table is shallow; recharge 0.4–0.8 of P where it is deep). ET is nearly invariant (~190–265 mm/yr) regardless of input.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precip → more infiltration (r=0.50) and more runoff (r=0.61), but runoff stays a small share → deep soils absorb most input.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Shallow water table (col_02,03,09,14,17: ZWT 3.6–4.8 m) → QDRAI dominates (0.55–1.07 of P) and recharge goes negative → lateral drainage bleeds storage.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Deep water table (ZWT ~20–29 m) → drainage≈0, recharge captures 0.5–0.8 of P → water banks as storage, no outlet.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More clay → less runoff (r=−0.30); low-ksat col_08 (ksat 0.1, clay 54%) still infiltrates 0.89 of P → clay throttles surface flow, not deep percolation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 ZWT (median 12.4 m) brackets Fan (13.5 m) and wells (15.2 m); SWE is underestimated (238–1000 vs obs 645–1981 mm) from coarse forcing. Top caveat: no spin-up — enormous storage_change (up to +1427 mm) and closure residuals (col_17 +1148, col_15 +970 mm) mean recharge/storage terms are non-equilibrated, not steady-state fluxes.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Run multi-decade spin-up, then re-derive recharge — closes the storage imbalance driving the residuals.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routing/aggregation to an in-domain gauge to convert QOVER+QDRAI into validatable streamflow.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Fan warm start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12.39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(water yield):  </a:t>
            </a:r>
            <a:r>
              <a:rPr sz="1200">
                <a:solidFill>
                  <a:srgbClr val="0F172A"/>
                </a:solidFill>
              </a:rPr>
              <a:t>no in-domain gauge had 1995 daily records  — needs: runoff routing / column aggregation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238–1000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</a:rPr>
              <a:t>Case 3 — Naches groundwater (PFLOTRAN)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728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question:  </a:t>
            </a:r>
            <a:r>
              <a:rPr sz="1500">
                <a:solidFill>
                  <a:srgbClr val="0F172A"/>
                </a:solidFill>
              </a:rPr>
              <a:t>How different are the groundwater dynamics across the Naches — same recharge everywhere, only the subsurface varies?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model:  </a:t>
            </a:r>
            <a:r>
              <a:rPr sz="1500">
                <a:solidFill>
                  <a:srgbClr val="0F172A"/>
                </a:solidFill>
              </a:rPr>
              <a:t>PFLOTRAN 1-D RICHARDS (standalone — no ELM)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scenarios:  </a:t>
            </a:r>
            <a:r>
              <a:rPr sz="1500">
                <a:solidFill>
                  <a:srgbClr val="0F172A"/>
                </a:solidFill>
              </a:rPr>
              <a:t>steady uniform recharge 30/100/300 mm/yr — a controlled experiment: only the subsurface varies</a:t>
            </a:r>
          </a:p>
          <a:p>
            <a:pPr>
              <a:spcAft>
                <a:spcPts val="600"/>
              </a:spcAft>
            </a:pPr>
            <a:r>
              <a:rPr b="1" sz="1500">
                <a:solidFill>
                  <a:srgbClr val="2C7FB8"/>
                </a:solidFill>
              </a:rPr>
              <a:t>execution:  </a:t>
            </a:r>
            <a:r>
              <a:rPr sz="1500">
                <a:solidFill>
                  <a:srgbClr val="0F172A"/>
                </a:solidFill>
              </a:rPr>
              <a:t>20 columns × 3 scenarios = 60 serial runs, ~0.5 s each, login node — no batch queue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sampling design (same columns as the ELM studies)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143000"/>
            <a:ext cx="101346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profiles &amp; water tables (100 mm/yr)</a:t>
            </a:r>
          </a:p>
        </p:txBody>
      </p:sp>
      <p:pic>
        <p:nvPicPr>
          <p:cNvPr id="3" name="Picture 2" descr="pflotran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410527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scenario sweep — the dynamics</a:t>
            </a:r>
          </a:p>
        </p:txBody>
      </p:sp>
      <p:pic>
        <p:nvPicPr>
          <p:cNvPr id="3" name="Picture 2" descr="pflotran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391747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driver → response relations (controls: water table + soil)</a:t>
            </a:r>
          </a:p>
        </p:txBody>
      </p:sp>
      <p:pic>
        <p:nvPicPr>
          <p:cNvPr id="3" name="Picture 2" descr="pflotran_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32720" cy="655641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groundwater (PFLOTRAN) —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Uniform steady recharge (30/100/300 mm/yr) on all 20 columns — every difference below is subsurface structure, not climate.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Vadose-zone wetness spans 0.32–0.97 at the same forcing — soil layering and water-table depth set the baseline, not recharge.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Most climate-sensitive: col_01 (Δsat +0.22, Fan WTD 61.5 m); least: col_09 (Δsat +0.00, Fan WTD 0.2 m) — deep unsaturated zones buffer recharge changes; shallow water tables pin the profile.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6 ridge columns keep their water table below the capped 50 m domain at every rate (Fan says 61–215 m there) — honestly flagged, not simulated.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Water tables are held by the bottom boundary (pinned at the Fan prior), so this sweep isolates the UNSATURATED-zone response; transient forcing and a free water table are the ELM-coupling phase.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</a:rPr>
              <a:t>•  Strongest controls (|r|≥0.5): Δsat (300−30) vs log10 Fan WTD (m) (r=+0.93) · vadose sat @100 mm/yr vs log10 Fan WTD (m) (r=-0.70) · surface sat @100 vs log10 Fan WTD (m) (r=-0.54) — elevation matters only where it proxies the water table (no orographic forcing exists in this design, unlike the ELM/NLDAS studies).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 — Fan warm start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-84.8 → 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004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 — Fan warm start: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NLDAS-2 (0.125°, ~12 km)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-84.8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486.1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4.05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3.94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3.60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338.8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19.98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27.68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863.2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3.56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634.9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27.50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26.38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27.19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20.18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3.78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P1 — Naches groundwater (PFLOTRAN): columns &amp; scenario wetness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vadose-zone mean saturation per recharge rate · WTD from the hydrostatic prior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37744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domain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WTD end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sat @300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0.90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34.81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0.94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0.82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0.88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