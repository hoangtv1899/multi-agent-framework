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</a:rPr>
              <a:t>From a question to a validated simulation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Multi-agent LLM framework on NERSC Perlmutter — 2 executed case studies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question → plan → sampling → per-column ELM runs → analysis → observation validation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generated 2026-07-12 from workflow_outputs/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1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47" y="1005840"/>
            <a:ext cx="94234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20 columns ran as one batch job (concurrent) in 58 min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808" y="3931920"/>
            <a:ext cx="6736079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NLDAS-2 (0.125°, ~12 km) precip at the column.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riv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49" y="1188720"/>
            <a:ext cx="660139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wtd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3390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28556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driver × response (Pearson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all 20 columns · correlations across ALL columns — when precip is quantized, elevation and precip are confo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Ksat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-0.03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In the representative Naches profiles the model sends incoming water almost entirely to ET and soil storage: surface runoff is only ~3–5% of P (23–95 mm/yr) and sub-surface recharge is effectively nil (−0.2 to −3.6 mm/yr in 19 of 20 columns; one anomalous column shows +291 mm/yr). This partitioning tracks precipitation (recharge–P r=0.61), not elevation (r=0.15).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Precip ↑ → runoff ↑ (r=0.78) but stays 3–5% of P → most water infiltrates, not overland.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Recharge ≈0 with QDRAI=0 everywhere → deep drainage inactive; no groundwater coupling.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Clay ↑ → ET ↓ (r=−0.79), ksat ↑ → ET ↑ (r=0.55) → low-conductivity layers trap water in root zone.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Storage_change 199–1098 mm and closure residuals 117–888 mm/yr → column not equilibrated (no spin-up).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Observations contradict the model: modeled yield 64.9 vs 1427 mm/yr, NSE=−1.11, ZWT 8.8 m vs 15.2 m wells, SWE 154–640 vs 645–1981 mm. Top caveat: single unrouted, un-spun-up columns can't reproduce integrated streamflow or deep water table.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spin-up to close the storage/residual gap before trusting recharge sign.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Route + area-weight columns to a gage for a valid yield/hydrograph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8.8 m vs Fan 13.46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64.9 mm/yr vs observed specific discharge 1426.8 mm/yr (American River Near Nile,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(daily hydrograph):  </a:t>
            </a:r>
            <a:r>
              <a:rPr sz="1200">
                <a:solidFill>
                  <a:srgbClr val="0F172A"/>
                </a:solidFill>
              </a:rPr>
              <a:t>NSE=-1.11, KGE=-0.476 (r=0.359, variability α=0.084, bias β=0.036) — column-mean QOVER+QDRAI vs gauge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snow water equivalent:  </a:t>
            </a:r>
            <a:r>
              <a:rPr sz="1200">
                <a:solidFill>
                  <a:srgbClr val="0F172A"/>
                </a:solidFill>
              </a:rPr>
              <a:t>model peak SWE 154–640 mm across columns vs observed 645–1981 mm across stations (coarse uniform forcing — expect underestimation)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249" y="3383280"/>
            <a:ext cx="3927196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2 — Naches — Fan warm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47" y="1005840"/>
            <a:ext cx="94234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20 columns ran as one batch job (concurrent) in 61 min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808" y="3931920"/>
            <a:ext cx="6736079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NLDAS-2 (0.125°, ~12 km) precip at the column.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results (continued)</a:t>
            </a:r>
          </a:p>
        </p:txBody>
      </p:sp>
      <p:pic>
        <p:nvPicPr>
          <p:cNvPr id="3" name="Picture 2" descr="driv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49" y="1188720"/>
            <a:ext cx="660139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results (continued)</a:t>
            </a:r>
          </a:p>
        </p:txBody>
      </p:sp>
      <p:pic>
        <p:nvPicPr>
          <p:cNvPr id="3" name="Picture 2" descr="wtd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36929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results (continued)</a:t>
            </a:r>
          </a:p>
        </p:txBody>
      </p:sp>
      <p:pic>
        <p:nvPicPr>
          <p:cNvPr id="3" name="Picture 2" descr="cold_vs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54" y="1188720"/>
            <a:ext cx="928278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driver × response (Pearson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all 20 columns · correlations across ALL columns — when precip is quantized, elevation and precip are confo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Ksat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The representative Naches profiles are strongly infiltration-dominated: surface runoff is only 0–16% of precipitation (median ~0.14, max 0.27 at col_14), while sub-surface drainage + recharge take the majority (drainage 0.55–0.88 of P where the water table is shallow; recharge 0.4–0.8 of P where it is deep). ET is nearly invariant (~190–265 mm/yr) regardless of input.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Higher precip → more infiltration (r=0.50) and more runoff (r=0.61), but runoff stays a small share → deep soils absorb most input.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Shallow water table (col_02,03,09,14,17: ZWT 3.6–4.8 m) → QDRAI dominates (0.55–1.07 of P) and recharge goes negative → lateral drainage bleeds storage.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Deep water table (ZWT ~20–29 m) → drainage≈0, recharge captures 0.5–0.8 of P → water banks as storage, no outlet.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More clay → less runoff (r=−0.30); low-ksat col_08 (ksat 0.1, clay 54%) still infiltrates 0.89 of P → clay throttles surface flow, not deep percolation here.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Model ZWT (median 12.4 m) brackets Fan (13.5 m) and wells (15.2 m); SWE is underestimated (238–1000 vs obs 645–1981 mm) from coarse forcing. Top caveat: no spin-up — enormous storage_change (up to +1427 mm) and closure residuals (col_17 +1148, col_15 +970 mm) mean recharge/storage terms are non-equilibrated, not steady-state fluxes.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Run multi-decade spin-up, then re-derive recharge — closes the storage imbalance driving the residuals.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routing/aggregation to an in-domain gauge to convert QOVER+QDRAI into validatable streamflow.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12.39 m vs Fan 13.46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(water yield):  </a:t>
            </a:r>
            <a:r>
              <a:rPr sz="1200">
                <a:solidFill>
                  <a:srgbClr val="0F172A"/>
                </a:solidFill>
              </a:rPr>
              <a:t>no in-domain gauge had 1995 daily records  — needs: runoff routing / column aggregation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(daily hydrograph):  </a:t>
            </a:r>
            <a:r>
              <a:rPr sz="1200">
                <a:solidFill>
                  <a:srgbClr val="0F172A"/>
                </a:solidFill>
              </a:rPr>
              <a:t>daily comparison unavailable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snow water equivalent:  </a:t>
            </a:r>
            <a:r>
              <a:rPr sz="1200">
                <a:solidFill>
                  <a:srgbClr val="0F172A"/>
                </a:solidFill>
              </a:rPr>
              <a:t>model peak SWE 238–1000 mm across columns vs observed 645–1981 mm across stations (coarse uniform forcing — expect underestimation)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23" y="3383280"/>
            <a:ext cx="888064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</a:rPr>
              <a:t>Case 3 — Naches groundwater — ELM-coupled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question:  </a:t>
            </a:r>
            <a:r>
              <a:rPr sz="1500">
                <a:solidFill>
                  <a:srgbClr val="0F172A"/>
                </a:solidFill>
              </a:rPr>
              <a:t>When does today's infiltration become recharge at the water table?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model:  </a:t>
            </a:r>
            <a:r>
              <a:rPr sz="1500">
                <a:solidFill>
                  <a:srgbClr val="0F172A"/>
                </a:solidFill>
              </a:rPr>
              <a:t>ELM (warm-started, NLDAS) → PFLOTRAN 1-D RICHARDS, one-way daily flux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forcing:  </a:t>
            </a:r>
            <a:r>
              <a:rPr sz="1500">
                <a:solidFill>
                  <a:srgbClr val="0F172A"/>
                </a:solidFill>
              </a:rPr>
              <a:t>each column's own ELM daily infiltration — the forcing gradient varies per column (one-way coupling)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execution:  </a:t>
            </a:r>
            <a:r>
              <a:rPr sz="1500">
                <a:solidFill>
                  <a:srgbClr val="0F172A"/>
                </a:solidFill>
              </a:rPr>
              <a:t>18/20 columns × (10 y spin + 1 transient ELM year), serial, seconds each on the login node — 2 stiff columns excluded (solver divergence, a known Richards challenge)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— ELM-coupled — sampling design (same columns as the ELM studies)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10134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— ELM-coupled — ELM → PFLOTRAN coupling — lag &amp; attenuation</a:t>
            </a:r>
          </a:p>
        </p:txBody>
      </p:sp>
      <p:pic>
        <p:nvPicPr>
          <p:cNvPr id="3" name="Picture 2" descr="pflotran_coup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317026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— ELM-coupled —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One-way coupling: each column's PFLOTRAN top flux is ITS OWN ELM daily infiltration (warm-started NLDAS run) — the forcing gradient is back (annual flux 260–1897 mm/yr across columns).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Infiltration reaches the water table with lags of 0–104 days across 13 columns where a coherent response exists; deeper/finer vadose zones lag longer.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Attenuation spans orders of magnitude: shallow water tables receive most of the surface signal; the capped ridge columns damp it to near zero — the vadose zone is a low-pass filter whose cutoff is set by the water-table depth.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This is what ELM alone cannot represent: its bucket aquifer has no travel time. The two models now answer the question jointly — ELM partitions the surface water, PFLOTRAN carries it to the water table.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</a:rPr>
              <a:t>Case 4 — Naches groundwater (PFLOTRAN)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question:  </a:t>
            </a:r>
            <a:r>
              <a:rPr sz="1500">
                <a:solidFill>
                  <a:srgbClr val="0F172A"/>
                </a:solidFill>
              </a:rPr>
              <a:t>How different are the groundwater dynamics across the Naches — same recharge everywhere, only the subsurface varies?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model:  </a:t>
            </a:r>
            <a:r>
              <a:rPr sz="1500">
                <a:solidFill>
                  <a:srgbClr val="0F172A"/>
                </a:solidFill>
              </a:rPr>
              <a:t>PFLOTRAN 1-D RICHARDS (standalone — no ELM)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scenarios:  </a:t>
            </a:r>
            <a:r>
              <a:rPr sz="1500">
                <a:solidFill>
                  <a:srgbClr val="0F172A"/>
                </a:solidFill>
              </a:rPr>
              <a:t>steady uniform recharge 30/100/300 mm/yr — a controlled experiment: only the subsurface varies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execution:  </a:t>
            </a:r>
            <a:r>
              <a:rPr sz="1500">
                <a:solidFill>
                  <a:srgbClr val="0F172A"/>
                </a:solidFill>
              </a:rPr>
              <a:t>20 columns × 3 scenarios = 60 serial runs, ~0.5 s each, login node — no batch queue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sampling design (same columns as the ELM studies)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10134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profiles &amp; water tables (100 mm/yr)</a:t>
            </a:r>
          </a:p>
        </p:txBody>
      </p:sp>
      <p:pic>
        <p:nvPicPr>
          <p:cNvPr id="3" name="Picture 2" descr="pflotran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41052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scenario sweep — the dynamics</a:t>
            </a:r>
          </a:p>
        </p:txBody>
      </p:sp>
      <p:pic>
        <p:nvPicPr>
          <p:cNvPr id="3" name="Picture 2" descr="pflotran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39174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driver → response relations (controls: water table + soil)</a:t>
            </a:r>
          </a:p>
        </p:txBody>
      </p:sp>
      <p:pic>
        <p:nvPicPr>
          <p:cNvPr id="3" name="Picture 2" descr="pflotran_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65564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Uniform steady recharge (30/100/300 mm/yr) on all 20 columns — every difference below is subsurface structure, not climate.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Vadose-zone wetness spans 0.32–0.97 at the same forcing — soil layering and water-table depth set the baseline, not recharge.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Most climate-sensitive: col_01 (Δsat +0.22, Fan WTD 61.5 m); least: col_09 (Δsat +0.00, Fan WTD 0.2 m) — deep unsaturated zones buffer recharge changes; shallow water tables pin the profile.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6 ridge columns keep their water table below the capped 50 m domain at every rate (Fan says 61–215 m there) — honestly flagged, not simulated.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Water tables are held by the bottom boundary (pinned at the Fan prior), so this sweep isolates the UNSATURATED-zone response; transient forcing and a free water table are the ELM-coupling phase.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Strongest controls (|r|≥0.5): Δsat (300−30) vs log10 Fan WTD (m) (r=+0.93) · vadose sat @100 mm/yr vs log10 Fan WTD (m) (r=-0.70) · surface sat @100 vs log10 Fan WTD (m) (r=-0.54) — elevation matters only where it proxies the water table (no orographic forcing exists in this design, unlike the ELM/NLDAS studies).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Cross-study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same framework, three experiments — the control on recharge/runoff partitioning depends on climate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828800"/>
                <a:gridCol w="2011680"/>
                <a:gridCol w="33832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forcing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recharge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strongest control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459, 474, 509, 611, 619, 682, 699, 727, 735, 793, 941, 975, 1153, 1361, 1580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-3.6 → 291.2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 — Fan warm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459, 474, 509, 611, 619, 682, 699, 727, 735, 793, 941, 975, 1153, 1361, 1580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-84.8 → 1298.8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wet basin:  </a:t>
            </a:r>
            <a:r>
              <a:rPr sz="1400">
                <a:solidFill>
                  <a:srgbClr val="0F172A"/>
                </a:solidFill>
              </a:rPr>
              <a:t>recharge is CLAY-limited — water is ample; the impeding layer decides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dry basin:  </a:t>
            </a:r>
            <a:r>
              <a:rPr sz="1400">
                <a:solidFill>
                  <a:srgbClr val="0F172A"/>
                </a:solidFill>
              </a:rPr>
              <a:t>recharge is Ksat-limited (threshold) — only the most permeable soil recharges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controlled sweep:  </a:t>
            </a:r>
            <a:r>
              <a:rPr sz="1400">
                <a:solidFill>
                  <a:srgbClr val="0F172A"/>
                </a:solidFill>
              </a:rPr>
              <a:t>confirms causality: clay 5→55% collapses recharge 755→9 mm/yr with everything else fixed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A1 — Naches: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NLDAS-2 (0.125°, ~12 km)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806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A2 — Naches — Fan warm start: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NLDAS-2 (0.125°, ~12 km)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806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-84.8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486.1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4.05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3.94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363.5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3.60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338.8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3.56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19.98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27.68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863.2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3.56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634.9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26.38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27.19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20.18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P1 — Naches groundwater — ELM-coupled: columns &amp; scenario wetness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vadose-zone mean saturation per recharge rate · WTD from the hydrostatic prior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domain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flux annual mm 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lag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attenuation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841.90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1897.00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264.90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1325.10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1011.10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1320.80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1551.00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267.90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1735.50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345.20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996.20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1761.00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P2 — Naches groundwater (PFLOTRAN): columns &amp; scenario wetness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vadose-zone mean saturation per recharge rate · WTD from the hydrostatic prior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domain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wtd final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sat 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sat r100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sat r300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0.95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0.82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0.83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0.82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