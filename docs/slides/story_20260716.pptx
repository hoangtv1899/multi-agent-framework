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2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2026-07-16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47" y="1005840"/>
            <a:ext cx="94234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assumptions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every load-bearing choice, source-tagged · what these results can and cannot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Assumptions (source-tagged)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simulation period = 1995-1995  [user]:  </a:t>
            </a:r>
            <a:r>
              <a:rPr sz="1100">
                <a:solidFill>
                  <a:srgbClr val="0F172A"/>
                </a:solidFill>
              </a:rPr>
              <a:t>science year = last simulated year; the year's climatic percentile is not characterized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spin-up = none  [derived]:  </a:t>
            </a:r>
            <a:r>
              <a:rPr sz="1100">
                <a:solidFill>
                  <a:srgbClr val="0F172A"/>
                </a:solidFill>
              </a:rPr>
              <a:t>recharge/storage terms are transient without &gt;=3 spin-up years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initialization = cold start (uniform ELM default)  [DEFAULT]:  </a:t>
            </a:r>
            <a:r>
              <a:rPr sz="1100">
                <a:solidFill>
                  <a:srgbClr val="0F172A"/>
                </a:solidFill>
              </a:rPr>
              <a:t>initial water table controls recharge sign in 1-yr runs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soil configuration = native  [DEFAULT]:  </a:t>
            </a:r>
            <a:r>
              <a:rPr sz="1100">
                <a:solidFill>
                  <a:srgbClr val="0F172A"/>
                </a:solidFill>
              </a:rPr>
              <a:t>substrate=extrapolate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forcing period class = baseline  [DEFAULT]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N (columns) = 20  [planner/expander]:  </a:t>
            </a:r>
            <a:r>
              <a:rPr sz="1100">
                <a:solidFill>
                  <a:srgbClr val="0F172A"/>
                </a:solidFill>
              </a:rPr>
              <a:t>materialized by the deterministic expander from the planner's stratification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met forcing = NLDAS-2 0.125°  [user]:  </a:t>
            </a:r>
            <a:r>
              <a:rPr sz="1100">
                <a:solidFill>
                  <a:srgbClr val="0F172A"/>
                </a:solidFill>
              </a:rPr>
              <a:t>chosen to break the Qian elevation confound (backfilled for a pre-ledger run)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3444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2C7FB8"/>
                </a:solidFill>
              </a:rPr>
              <a:t>Structural limits — the 1-D model class (reruns cannot fix)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runoff (QOVER): local runoff GENERATION on a 1 m² column — not routed discharge; no downslope concentration, so it is not comparable to a stream gauge without aggregation/routing.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runoff/infiltration partitioning: no run-on: a column never receives runoff generated uphill, which in reality re-infiltrates downslope — runoff is likely biased high on slopes and infiltration biased low in valleys.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water table (ZWT/WTD): 1-D vertical equilibrium only — the lateral groundwater convergence that sets real valley water tables is absent; ELM parameterizes lateral losses (QDRAI) as a local sink but routes nothing between columns.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streamflow validation: columns provide no native integrated streamflow; gauge comparisons use unweighted column means (specific discharge) and are labeled context-only until routing exists.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snow (SWE) at stations: forcing is a 12 km cell average — ridgetop SNOTEL stations sample terrain the cell cannot resolve; systematic underestimation at high-relief stations is expected.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C7FB8"/>
                </a:solidFill>
              </a:rPr>
              <a:t>This run's configuration limits (fixable by rerunning)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recharge, storage change, deep soil moisture: run starts from non-equilibrated storage (no multi-year spin-up): slow-state fluxes are transient, storage-change terms are large, and recharge magnitude/sign is initialization-dependent.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all annual results: a single simulated year; interannual variability and the year's climatic percentile are not characterized.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elevation-dependent results: NLDAS-2 resolves orographic gradients at ~12 km but not sub-cell terrain (no within-cell lapse rate).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 — Fan warm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47" y="1005840"/>
            <a:ext cx="94234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6929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assumptions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every load-bearing choice, source-tagged · what these results can and cannot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7607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Assumptions (source-tagged)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simulation period = 1995-1995  [user]:  </a:t>
            </a:r>
            <a:r>
              <a:rPr sz="1100">
                <a:solidFill>
                  <a:srgbClr val="0F172A"/>
                </a:solidFill>
              </a:rPr>
              <a:t>science year = last simulated year; the year's climatic percentile is not characterized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spin-up = none  [derived]:  </a:t>
            </a:r>
            <a:r>
              <a:rPr sz="1100">
                <a:solidFill>
                  <a:srgbClr val="0F172A"/>
                </a:solidFill>
              </a:rPr>
              <a:t>recharge/storage terms are transient without &gt;=3 spin-up years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initialization = Fan-2013 warm start (finidat)  [user]:  </a:t>
            </a:r>
            <a:r>
              <a:rPr sz="1100">
                <a:solidFill>
                  <a:srgbClr val="0F172A"/>
                </a:solidFill>
              </a:rPr>
              <a:t>initial water table controls recharge sign in 1-yr runs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soil configuration = native  [DEFAULT]:  </a:t>
            </a:r>
            <a:r>
              <a:rPr sz="1100">
                <a:solidFill>
                  <a:srgbClr val="0F172A"/>
                </a:solidFill>
              </a:rPr>
              <a:t>substrate=extrapolate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forcing period class = baseline  [DEFAULT]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N (columns) = 20  [planner/expander]:  </a:t>
            </a:r>
            <a:r>
              <a:rPr sz="1100">
                <a:solidFill>
                  <a:srgbClr val="0F172A"/>
                </a:solidFill>
              </a:rPr>
              <a:t>materialized by the deterministic expander from the planner's stratification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2C7FB8"/>
                </a:solidFill>
              </a:rPr>
              <a:t>met forcing = NLDAS-2 0.125°  [user]:  </a:t>
            </a:r>
            <a:r>
              <a:rPr sz="1100">
                <a:solidFill>
                  <a:srgbClr val="0F172A"/>
                </a:solidFill>
              </a:rPr>
              <a:t>chosen to break the Qian elevation confound (backfilled for a pre-ledger run)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3444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2C7FB8"/>
                </a:solidFill>
              </a:rPr>
              <a:t>Structural limits — the 1-D model class (reruns cannot fix)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runoff (QOVER): local runoff GENERATION on a 1 m² column — not routed discharge; no downslope concentration, so it is not comparable to a stream gauge without aggregation/routing.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runoff/infiltration partitioning: no run-on: a column never receives runoff generated uphill, which in reality re-infiltrates downslope — runoff is likely biased high on slopes and infiltration biased low in valleys.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water table (ZWT/WTD): 1-D vertical equilibrium only — the lateral groundwater convergence that sets real valley water tables is absent; ELM parameterizes lateral losses (QDRAI) as a local sink but routes nothing between columns.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streamflow validation: columns provide no native integrated streamflow; gauge comparisons use unweighted column means (specific discharge) and are labeled context-only until routing exists.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snow (SWE) at stations: forcing is a 12 km cell average — ridgetop SNOTEL stations sample terrain the cell cannot resolve; systematic underestimation at high-relief stations is expected.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2C7FB8"/>
                </a:solidFill>
              </a:rPr>
              <a:t>This run's configuration limits (fixable by rerunning)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recharge, storage change, deep soil moisture: run starts from non-equilibrated storage (no multi-year spin-up): slow-state fluxes are transient, storage-change terms are large, and recharge magnitude/sign is initialization-dependent.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water table, recharge: initial water table prescribed from the Fan (2013) equilibrium prior; ELM's own 1-D equilibrium differs, so early-run drift reflects model-vs-prior disagreement. Note the prior is also used as a validation reference — a circularity to keep in view.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all annual results: a single simulated year; interannual variability and the year's climatic percentile are not characterized.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</a:rPr>
              <a:t>•  elevation-dependent results: NLDAS-2 resolves orographic gradients at ~12 km but not sub-cell terrain (no within-cell lapse rate).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 is infiltration-dominated: surface runoff is a minor term (mostly 0–16% of P, up to 27% only at the wettest upland col_14), while the bulk of water leaves as sub-surface drainage/recharge (30–80% of P) and ET stays nearly fixed at ~190–265 mm/yr. Whether that subsurface flux is booked as "recharge" vs "drainage" is set almost entirely by water-table depth, not soil texture, so the recharge/runoff split is a soft model result, not an observed partition.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infiltration fraction (0.46–1.07 of P) -&gt; tiny QOVER -&gt; permeable loam/sandy-loam soils accept snowmelt.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Shallow-WTD columns (~3.5–4 m) show recharge≈0 but drainage 0.3–1.07 P; deep-WTD columns (~27 m) show recharge 0.5–0.8 P, drainage 0 -&gt; bookkeeping switch tied to initialized WTD.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ET flat (~0.1–0.45 P) across all forcing -&gt; energy/vegetation-limited, not water-limited.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Runoff vs precip r=0.61, vs clay_max r=−0.30 -&gt; wetness drives runoff more than texture.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Fan-2013 (13.5 m) and wells (15.2 m), but SWE is underestimated (238–1000 vs 645–1981 mm) and no in-domain gauge existed to validate yield; top caveat: no spin-up + no lateral routing, so the recharge/drainage split and deep storage are unequilibrated defaults.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with multi-decade spin-up to equilibrate WTD and stabilize the recharge-vs-drainage partition.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routing/area-weighted aggregation to a headwater USGS gage to validate water yield.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3 — Naches groundwater — ELM-coupled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When does today's infiltration become recharge at the water table?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ELM (warm-started, NLDAS) → PFLOTRAN 1-D RICHARDS, one-way daily flux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forcing:  </a:t>
            </a:r>
            <a:r>
              <a:rPr sz="1500">
                <a:solidFill>
                  <a:srgbClr val="0F172A"/>
                </a:solidFill>
              </a:rPr>
              <a:t>each column's own ELM daily infiltration — the forcing gradient varies per column (one-way coupling)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18/20 columns × (10 y spin + 1 transient ELM year), serial, seconds each on the login node — 2 stiff columns excluded (solver divergence, a known Richards challenge)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— ELM-coupled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10134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— ELM-coupled — ELM → PFLOTRAN coupling — lag &amp; attenuation</a:t>
            </a:r>
          </a:p>
        </p:txBody>
      </p:sp>
      <p:pic>
        <p:nvPicPr>
          <p:cNvPr id="3" name="Picture 2" descr="pflotran_coup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17026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— ELM-coupled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One-way coupling: each column's PFLOTRAN top flux is ITS OWN ELM daily infiltration (warm-started NLDAS run) — the forcing gradient is back (annual flux 260–1897 mm/yr across columns).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Infiltration reaches the water table with lags of 0–104 days across 13 columns where a coherent response exists; deeper/finer vadose zones lag longer.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Attenuation spans orders of magnitude: shallow water tables receive most of the surface signal; the capped ridge columns damp it to near zero — the vadose zone is a low-pass filter whose cutoff is set by the water-table depth.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This is what ELM alone cannot represent: its bucket aquifer has no travel time. The two models now answer the question jointly — ELM partitions the surface water, PFLOTRAN carries it to the water table.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4 — Naches groundwater (PFLOTRAN)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How different are the groundwater dynamics across the Naches — same recharge everywhere, only the subsurface varies?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PFLOTRAN 1-D RICHARDS (standalone — no ELM)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scenarios:  </a:t>
            </a:r>
            <a:r>
              <a:rPr sz="1500">
                <a:solidFill>
                  <a:srgbClr val="0F172A"/>
                </a:solidFill>
              </a:rPr>
              <a:t>steady uniform recharge 30/100/300 mm/yr — a controlled experiment: only the subsurface varies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20 columns × 3 scenarios = 60 serial runs, ~0.5 s each, login node — no batch queue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10134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profiles &amp; water tables (100 mm/yr)</a:t>
            </a:r>
          </a:p>
        </p:txBody>
      </p:sp>
      <p:pic>
        <p:nvPicPr>
          <p:cNvPr id="3" name="Picture 2" descr="pflotra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41052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scenario sweep — the dynamics</a:t>
            </a:r>
          </a:p>
        </p:txBody>
      </p:sp>
      <p:pic>
        <p:nvPicPr>
          <p:cNvPr id="3" name="Picture 2" descr="pflotra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91747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driver → response relations (controls: water table + soil)</a:t>
            </a:r>
          </a:p>
        </p:txBody>
      </p:sp>
      <p:pic>
        <p:nvPicPr>
          <p:cNvPr id="3" name="Picture 2" descr="pflotran_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655641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Uniform steady recharge (30/100/300 mm/yr) on all 20 columns — every difference below is subsurface structure, not climate.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Vadose-zone wetness spans 0.32–0.97 at the same forcing — soil layering and water-table depth set the baseline, not recharge.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Most climate-sensitive: col_01 (Δsat +0.22, Fan WTD 61.5 m); least: col_09 (Δsat +0.00, Fan WTD 0.2 m) — deep unsaturated zones buffer recharge changes; shallow water tables pin the profile.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6 ridge columns keep their water table below the capped 50 m domain at every rate (Fan says 61–215 m there) — honestly flagged, not simulated.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Water tables are held by the bottom boundary (pinned at the Fan prior), so this sweep isolates the UNSATURATED-zone response; transient forcing and a free water table are the ELM-coupling phase.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Strongest controls (|r|≥0.5): Δsat (300−30) vs log10 Fan WTD (m) (r=+0.93) · vadose sat @100 mm/yr vs log10 Fan WTD (m) (r=-0.70) · surface sat @100 vs log10 Fan WTD (m) (r=-0.54) — elevation matters only where it proxies the water table (no orographic forcing exists in this design, unlike the ELM/NLDAS studies).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 — Fan warm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 — Fan warm start: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P1 — Naches groundwater — ELM-coupled: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/>
                <a:gridCol w="1567542"/>
                <a:gridCol w="1567542"/>
                <a:gridCol w="1567542"/>
                <a:gridCol w="1567542"/>
                <a:gridCol w="1567542"/>
                <a:gridCol w="1567548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flux annual mm 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lag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attenuation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841.90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259.70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1897.00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264.90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1325.10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1011.10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1320.80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1551.00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981.00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951.70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267.90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1735.50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345.20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996.20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0.06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1761.00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P2 — Naches groundwater (PFLOTRAN):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wtd final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r30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r100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r300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