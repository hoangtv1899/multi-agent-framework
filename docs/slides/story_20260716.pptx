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</a:rPr>
              <a:t>From a question to a validated simulation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72865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Multi-agent LLM framework on NERSC Perlmutter — 2 executed case studies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question → plan → sampling → per-column ELM runs → analysis → observation validation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</a:rPr>
              <a:t>generated 2026-07-16 from workflow_outputs/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1 — Naches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58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995" y="1463040"/>
            <a:ext cx="7307704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017" y="3931920"/>
            <a:ext cx="6749661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56" y="1188720"/>
            <a:ext cx="660618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3865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results (continued)</a:t>
            </a:r>
          </a:p>
        </p:txBody>
      </p:sp>
      <p:pic>
        <p:nvPicPr>
          <p:cNvPr id="3" name="Picture 2" descr="debug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28556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+0.10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assumptions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every load-bearing choice, source-tagged · what these results can and cannot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Assumptions (source-tagged)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simulation period = 1995-1995  [user]:  </a:t>
            </a:r>
            <a:r>
              <a:rPr sz="1100">
                <a:solidFill>
                  <a:srgbClr val="0F172A"/>
                </a:solidFill>
              </a:rPr>
              <a:t>science year = last simulated year; the year's climatic percentile is not characterized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spin-up = none  [derived]:  </a:t>
            </a:r>
            <a:r>
              <a:rPr sz="1100">
                <a:solidFill>
                  <a:srgbClr val="0F172A"/>
                </a:solidFill>
              </a:rPr>
              <a:t>recharge/storage terms are transient without &gt;=3 spin-up years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initialization = cold start (uniform ELM default)  [DEFAULT]:  </a:t>
            </a:r>
            <a:r>
              <a:rPr sz="1100">
                <a:solidFill>
                  <a:srgbClr val="0F172A"/>
                </a:solidFill>
              </a:rPr>
              <a:t>initial water table controls recharge sign in 1-yr runs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soil configuration = native  [DEFAULT]:  </a:t>
            </a:r>
            <a:r>
              <a:rPr sz="1100">
                <a:solidFill>
                  <a:srgbClr val="0F172A"/>
                </a:solidFill>
              </a:rPr>
              <a:t>substrate=extrapolate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forcing period class = baseline  [DEFAULT]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N (columns) = 20  [planner/expander]:  </a:t>
            </a:r>
            <a:r>
              <a:rPr sz="1100">
                <a:solidFill>
                  <a:srgbClr val="0F172A"/>
                </a:solidFill>
              </a:rPr>
              <a:t>materialized by the deterministic expander from the planner's stratification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met forcing = NLDAS-2 0.125°  [user]:  </a:t>
            </a:r>
            <a:r>
              <a:rPr sz="1100">
                <a:solidFill>
                  <a:srgbClr val="0F172A"/>
                </a:solidFill>
              </a:rPr>
              <a:t>chosen to break the Qian elevation confound (backfilled for a pre-ledger run)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2C7FB8"/>
                </a:solidFill>
              </a:rPr>
              <a:t>Structural limits — the 1-D model class (reruns cannot fix)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runoff (QOVER): local runoff GENERATION on a 1 m² column — not routed discharge; no downslope concentration, so it is not comparable to a stream gauge without aggregation/routing.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runoff/infiltration partitioning: no run-on: a column never receives runoff generated uphill, which in reality re-infiltrates downslope — runoff is likely biased high on slopes and infiltration biased low in valleys.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water table (ZWT/WTD): 1-D vertical equilibrium only — the lateral groundwater convergence that sets real valley water tables is absent; ELM parameterizes lateral losses (QDRAI) as a local sink but routes nothing between columns.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streamflow validation: columns provide no native integrated streamflow; gauge comparisons use unweighted column means (specific discharge) and are labeled context-only until routing exists.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snow (SWE) at stations: forcing is a 12 km cell average — ridgetop SNOTEL stations sample terrain the cell cannot resolve; systematic underestimation at high-relief stations is expected.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C7FB8"/>
                </a:solidFill>
              </a:rPr>
              <a:t>This run's configuration limits (fixable by rerunning)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recharge, storage change, deep soil moisture: run starts from non-equilibrated storage (no multi-year spin-up): slow-state fluxes are transient, storage-change terms are large, and recharge magnitude/sign is initialization-dependent.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all annual results: a single simulated year; interannual variability and the year's climatic percentile are not characterized.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elevation-dependent results: NLDAS-2 resolves orographic gradients at ~12 km but not sub-cell terrain (no within-cell lapse rate).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In the representative Naches profiles the model sends incoming water almost entirely to ET and soil storage: surface runoff is only ~3–5% of P (23–95 mm/yr) and sub-surface recharge is effectively nil (−0.2 to −3.6 mm/yr in 19 of 20 columns; one anomalous column shows +291 mm/yr). This partitioning tracks precipitation (recharge–P r=0.61), not elevation (r=0.15).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Precip ↑ → runoff ↑ (r=0.78) but stays 3–5% of P → most water infiltrates, not overland.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Recharge ≈0 with QDRAI=0 everywhere → deep drainage inactive; no groundwater coupling.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Clay ↑ → ET ↓ (r=−0.79), ksat ↑ → ET ↑ (r=0.55) → low-conductivity layers trap water in root zone.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Storage_change 199–1098 mm and closure residuals 117–888 mm/yr → column not equilibrated (no spin-up).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Observations contradict the model: modeled yield 64.9 vs 1427 mm/yr, NSE=−1.11, ZWT 8.8 m vs 15.2 m wells, SWE 154–640 vs 645–1981 mm. Top caveat: single unrouted, un-spun-up columns can't reproduce integrated streamflow or deep water table.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spin-up to close the storage/residual gap before trusting recharge sign.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Route + area-weight columns to a gage for a valid yield/hydrograph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8.8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(water yield):  </a:t>
            </a:r>
            <a:r>
              <a:rPr sz="1200">
                <a:solidFill>
                  <a:srgbClr val="0F172A"/>
                </a:solidFill>
              </a:rPr>
              <a:t>modeled yield 64.9 mm/yr vs observed specific discharge 1426.8 mm/yr (American River Near Nile, Wa)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streamflow (daily hydrograph):  </a:t>
            </a:r>
            <a:r>
              <a:rPr sz="1200">
                <a:solidFill>
                  <a:srgbClr val="0F172A"/>
                </a:solidFill>
              </a:rPr>
              <a:t>NSE=-1.11, KGE=-0.476 (r=0.359, variability α=0.084, bias β=0.036) — column-mean QOVER+QDRAI vs gauge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154–640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249" y="3383280"/>
            <a:ext cx="3927196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Case 2 — Naches — Fan warm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HUC 17030002 · 2860.6 km² · elevation 352.0–1977.4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C7FB8"/>
                </a:solidFill>
              </a:rPr>
              <a:t>“Partitioning of runoff/recharge in the Naches sub-watershed (HUC8 17030002), validate with observations”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Mechanistic: quantify how the representative Naches profile partitions incoming water among ET, surface runoff (QOVER) and sub-surface drainage/recharge (QDRAI), and how that partitioning shifts with water availability (forcing period)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goal:  </a:t>
            </a:r>
            <a:r>
              <a:rPr sz="1400">
                <a:solidFill>
                  <a:srgbClr val="0F172A"/>
                </a:solidFill>
              </a:rPr>
              <a:t>Validation: compare ELM water balance against integrated streamflow at in-HUC USGS gages, SNOTEL SWE as snow driver, and Fan-2013 WTD as deep-storage context — MOST of which is blocked by current execution limits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sampling:  </a:t>
            </a:r>
            <a:r>
              <a:rPr sz="1400">
                <a:solidFill>
                  <a:srgbClr val="0F172A"/>
                </a:solidFill>
              </a:rPr>
              <a:t>N=8 — stratified (elevation bands for surface-data sampling) + forcing-period treatment on a representative column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why N:  </a:t>
            </a:r>
            <a:r>
              <a:rPr sz="1400">
                <a:solidFill>
                  <a:srgbClr val="0F172A"/>
                </a:solidFill>
              </a:rPr>
              <a:t>4 columns to span the four elevation bands and sample whatever per-column surface-data (PFT/default soil) heterogeneity exists across the basin under baseline forcing (NOT an elevation/climate test — forcing is uniform). Plus a forcing-period sweep (wet + drought = 2 extra periods) applied to two representative columns (1 mid-elevation valley-influenced, 1 upland) = 4 more, to isolate the only usable mechanistic lever: water-availability control on partitioning. Total 8. A denser grid is unjustified because neither elevation-climate nor soil texture can be resolved.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feasibility:  </a:t>
            </a:r>
            <a:r>
              <a:rPr sz="1400">
                <a:solidFill>
                  <a:srgbClr val="0F172A"/>
                </a:solidFill>
              </a:rPr>
              <a:t>partial — the elevation/snow-driven partitioning mechanism (the brief's stated primary control) is NOT representable, and the observation-based validation goal is largely blocked. Only the soil-profile water-balance partitioning and its forcing-period sensitivity are answerable.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Elevation / snow-regime control on partitioning (the brief's stated primary driver) — needs elevation-downscaled forcing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not answerable:  </a:t>
            </a:r>
            <a:r>
              <a:rPr sz="1400">
                <a:solidFill>
                  <a:srgbClr val="0F172A"/>
                </a:solidFill>
              </a:rPr>
              <a:t>Validation against SNOTEL SWE / melt timing — needs snow/SWE history output AND elevation-downscaled forcing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sampling design (Tier-2 expander)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147" y="1005840"/>
            <a:ext cx="94234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</a:rPr>
              <a:t>Panels — top-left: chosen columns on the DEM, coloured by elevation band, navy = watershed boundary.  top-right: histogram of the basin's DEM sample (grey = how much terrain sits at each elevation); dashed lines = the equal-interval band edges; coloured ticks = the chosen columns' elevations.  bottom-left: Fan (2013) equilibrium water-table depth at each column.  bottom-right: columns allocated per band — proportional to the band's share of the basin's DEM points (annotated n / points), minimum 1 per band.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execution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execution:  </a:t>
            </a:r>
            <a:r>
              <a:rPr sz="1300">
                <a:solidFill>
                  <a:srgbClr val="0F172A"/>
                </a:solidFill>
              </a:rPr>
              <a:t>20 columns ran as one batch job (concurrent) in 61 min</a:t>
            </a:r>
          </a:p>
        </p:txBody>
      </p:sp>
      <p:pic>
        <p:nvPicPr>
          <p:cNvPr id="4" name="Picture 3" descr="elevation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995" y="1463040"/>
            <a:ext cx="7307704" cy="2377440"/>
          </a:xfrm>
          <a:prstGeom prst="rect">
            <a:avLst/>
          </a:prstGeom>
        </p:spPr>
      </p:pic>
      <p:pic>
        <p:nvPicPr>
          <p:cNvPr id="5" name="Picture 4" descr="water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017" y="3931920"/>
            <a:ext cx="6749661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Definitions — recharge = ELM QCHARGE (flux from the soil column to the water table); runoff = QOVER (surface runoff); recharge fraction = QCHARGE/(QCHARGE+QOVER); WTD = ZWT (the column's own water-table depth); forcing = NLDAS-2 (0.125°, ~12 km) precip at the column.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driver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56" y="1188720"/>
            <a:ext cx="660618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wtd_colum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188720"/>
            <a:ext cx="11247120" cy="36759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results (continued)</a:t>
            </a:r>
          </a:p>
        </p:txBody>
      </p:sp>
      <p:pic>
        <p:nvPicPr>
          <p:cNvPr id="3" name="Picture 2" descr="cold_vs_wa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671" y="1188720"/>
            <a:ext cx="9266353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driver × response (Pearson 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all 20 columns · correlations across ALL columns — when precip is quantized, elevation and precip are confo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737360"/>
          <a:ext cx="99669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/>
                <a:gridCol w="1993392"/>
                <a:gridCol w="1993392"/>
                <a:gridCol w="1993392"/>
                <a:gridCol w="1993392"/>
              </a:tblGrid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elevation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clay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Ksat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infiltration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500" b="1"/>
                      </a:pPr>
                      <a:r>
                        <a:t>recharge_fraction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+0.25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 b="0"/>
                      </a:pPr>
                      <a:r>
                        <a:t>-0.41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assumptions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every load-bearing choice, source-tagged · what these results can and cannot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Assumptions (source-tagged)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simulation period = 1995-1995  [user]:  </a:t>
            </a:r>
            <a:r>
              <a:rPr sz="1100">
                <a:solidFill>
                  <a:srgbClr val="0F172A"/>
                </a:solidFill>
              </a:rPr>
              <a:t>science year = last simulated year; the year's climatic percentile is not characterized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spin-up = none  [derived]:  </a:t>
            </a:r>
            <a:r>
              <a:rPr sz="1100">
                <a:solidFill>
                  <a:srgbClr val="0F172A"/>
                </a:solidFill>
              </a:rPr>
              <a:t>recharge/storage terms are transient without &gt;=3 spin-up years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initialization = Fan-2013 warm start (finidat)  [user]:  </a:t>
            </a:r>
            <a:r>
              <a:rPr sz="1100">
                <a:solidFill>
                  <a:srgbClr val="0F172A"/>
                </a:solidFill>
              </a:rPr>
              <a:t>initial water table controls recharge sign in 1-yr runs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soil configuration = native  [DEFAULT]:  </a:t>
            </a:r>
            <a:r>
              <a:rPr sz="1100">
                <a:solidFill>
                  <a:srgbClr val="0F172A"/>
                </a:solidFill>
              </a:rPr>
              <a:t>substrate=extrapolate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forcing period class = baseline  [DEFAULT]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N (columns) = 20  [planner/expander]:  </a:t>
            </a:r>
            <a:r>
              <a:rPr sz="1100">
                <a:solidFill>
                  <a:srgbClr val="0F172A"/>
                </a:solidFill>
              </a:rPr>
              <a:t>materialized by the deterministic expander from the planner's stratification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2C7FB8"/>
                </a:solidFill>
              </a:rPr>
              <a:t>met forcing = NLDAS-2 0.125°  [user]:  </a:t>
            </a:r>
            <a:r>
              <a:rPr sz="1100">
                <a:solidFill>
                  <a:srgbClr val="0F172A"/>
                </a:solidFill>
              </a:rPr>
              <a:t>chosen to break the Qian elevation confound (backfilled for a pre-ledger run)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34440"/>
            <a:ext cx="53949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2C7FB8"/>
                </a:solidFill>
              </a:rPr>
              <a:t>Structural limits — the 1-D model class (reruns cannot fix)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runoff (QOVER): local runoff GENERATION on a 1 m² column — not routed discharge; no downslope concentration, so it is not comparable to a stream gauge without aggregation/routing.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runoff/infiltration partitioning: no run-on: a column never receives runoff generated uphill, which in reality re-infiltrates downslope — runoff is likely biased high on slopes and infiltration biased low in valleys.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water table (ZWT/WTD): 1-D vertical equilibrium only — the lateral groundwater convergence that sets real valley water tables is absent; ELM parameterizes lateral losses (QDRAI) as a local sink but routes nothing between columns.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streamflow validation: columns provide no native integrated streamflow; gauge comparisons use unweighted column means (specific discharge) and are labeled context-only until routing exists.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snow (SWE) at stations: forcing is a 12 km cell average — ridgetop SNOTEL stations sample terrain the cell cannot resolve; systematic underestimation at high-relief stations is expected.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C7FB8"/>
                </a:solidFill>
              </a:rPr>
              <a:t>This run's configuration limits (fixable by rerunning)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recharge, storage change, deep soil moisture: run starts from non-equilibrated storage (no multi-year spin-up): slow-state fluxes are transient, storage-change terms are large, and recharge magnitude/sign is initialization-dependent.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water table, recharge: initial water table prescribed from the Fan (2013) equilibrium prior; ELM's own 1-D equilibrium differs, so early-run drift reflects model-vs-prior disagreement. Note the prior is also used as a validation reference — a circularity to keep in view.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all annual results: a single simulated year; interannual variability and the year's climatic percentile are not characterized.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0F172A"/>
                </a:solidFill>
              </a:rPr>
              <a:t>•  elevation-dependent results: NLDAS-2 resolves orographic gradients at ~12 km but not sub-cell terrain (no within-cell lapse rate).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analyzer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Answer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The representative Naches profile is infiltration-dominated: surface runoff is a minor term (mostly 0–16% of P, up to 27% only at the wettest upland col_14), while the bulk of water leaves as sub-surface drainage/recharge (30–80% of P) and ET stays nearly fixed at ~190–265 mm/yr. Whether that subsurface flux is booked as "recharge" vs "drainage" is set almost entirely by water-table depth, not soil texture, so the recharge/runoff split is a soft model result, not an observed partition.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Why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High infiltration fraction (0.46–1.07 of P) -&gt; tiny QOVER -&gt; permeable loam/sandy-loam soils accept snowmelt.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Shallow-WTD columns (~3.5–4 m) show recharge≈0 but drainage 0.3–1.07 P; deep-WTD columns (~27 m) show recharge 0.5–0.8 P, drainage 0 -&gt; bookkeeping switch tied to initialized WTD.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ET flat (~0.1–0.45 P) across all forcing -&gt; energy/vegetation-limited, not water-limited.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Runoff vs precip r=0.61, vs clay_max r=−0.30 -&gt; wetness drives runoff more than texture.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Trust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Model ZWT (median 12.4 m) brackets Fan-2013 (13.5 m) and wells (15.2 m), but SWE is underestimated (238–1000 vs 645–1981 mm) and no in-domain gauge existed to validate yield; top caveat: no spin-up + no lateral routing, so the recharge/drainage split and deep storage are unequilibrated defaults.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2C7FB8"/>
                </a:solidFill>
              </a:rPr>
              <a:t>Next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Run with multi-decade spin-up to equilibrate WTD and stabilize the recharge-vs-drainage partition.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</a:rPr>
              <a:t>•  Add runoff routing/area-weighted aggregation to a headwater USGS gage to validate water yield.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— Fan warm start — evaluation vs observations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what could be compared honestly, and what still blocks rigorous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7729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in-domain obs:  </a:t>
            </a:r>
            <a:r>
              <a:rPr sz="1200">
                <a:solidFill>
                  <a:srgbClr val="0F172A"/>
                </a:solidFill>
              </a:rPr>
              <a:t>SNOTEL 6 · stream gages 93 · GW wells 200 (9/10 sampled have records)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water-table depth:  </a:t>
            </a:r>
            <a:r>
              <a:rPr sz="1200">
                <a:solidFill>
                  <a:srgbClr val="0F172A"/>
                </a:solidFill>
              </a:rPr>
              <a:t>model ZWT median 12.39 m vs Fan 13.46 m vs observed wells 15.23 m (median; n=9)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(water yield):  </a:t>
            </a:r>
            <a:r>
              <a:rPr sz="1200">
                <a:solidFill>
                  <a:srgbClr val="0F172A"/>
                </a:solidFill>
              </a:rPr>
              <a:t>no in-domain gauge had 1995 daily records  — needs: runoff routing / column aggregation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· context-only — streamflow (daily hydrograph):  </a:t>
            </a:r>
            <a:r>
              <a:rPr sz="1200">
                <a:solidFill>
                  <a:srgbClr val="0F172A"/>
                </a:solidFill>
              </a:rPr>
              <a:t>daily comparison unavailable</a:t>
            </a:r>
          </a:p>
          <a:p>
            <a:pPr>
              <a:spcAft>
                <a:spcPts val="600"/>
              </a:spcAft>
            </a:pPr>
            <a:r>
              <a:rPr b="1" sz="1200">
                <a:solidFill>
                  <a:srgbClr val="2C7FB8"/>
                </a:solidFill>
              </a:rPr>
              <a:t>✓ COMPARED — snow water equivalent:  </a:t>
            </a:r>
            <a:r>
              <a:rPr sz="1200">
                <a:solidFill>
                  <a:srgbClr val="0F172A"/>
                </a:solidFill>
              </a:rPr>
              <a:t>model peak SWE 238–1000 mm across columns vs observed 645–1981 mm across stations (coarse uniform forcing — expect underestimation)</a:t>
            </a:r>
          </a:p>
        </p:txBody>
      </p:sp>
      <p:pic>
        <p:nvPicPr>
          <p:cNvPr id="5" name="Picture 4" descr="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523" y="3383280"/>
            <a:ext cx="8880648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</a:rPr>
              <a:t>Metrics — NSE: 1=perfect, 0=no better than the observed mean, &lt;0 worse than the mean.  KGE: 1=perfect; components r (timing correlation), α (variability ratio σm/σo), β (volume ratio μm/μo).  Specific discharge = gauge flow ÷ drainage area, making a gauge comparable to 1-D columns (mm/yr or mm/day).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3 — Naches groundwater — ELM-coupled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When does today's infiltration become recharge at the water table?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ELM (warm-started, NLDAS) → PFLOTRAN 1-D RICHARDS, one-way daily flux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forcing:  </a:t>
            </a:r>
            <a:r>
              <a:rPr sz="1500">
                <a:solidFill>
                  <a:srgbClr val="0F172A"/>
                </a:solidFill>
              </a:rPr>
              <a:t>each column's own ELM daily infiltration — the forcing gradient varies per column (one-way coupling)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18/20 columns × (10 y spin + 1 transient ELM year), serial, seconds each on the login node — 2 stiff columns excluded (solver divergence, a known Richards challenge)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ELM → PFLOTRAN coupling — lag &amp; attenuation</a:t>
            </a:r>
          </a:p>
        </p:txBody>
      </p:sp>
      <p:pic>
        <p:nvPicPr>
          <p:cNvPr id="3" name="Picture 2" descr="pflotran_coup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15261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— ELM-coupled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One-way coupling: each column's PFLOTRAN top flux is ITS OWN ELM daily infiltration (warm-started NLDAS run) — the forcing gradient is back (annual flux 260–1897 mm/yr across columns).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Infiltration reaches the water table with lags of 0–104 days across 13 columns where a coherent response exists; deeper/finer vadose zones lag longer.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Attenuation spans orders of magnitude: shallow water tables receive most of the surface signal; the capped ridge columns damp it to near zero — the vadose zone is a low-pass filter whose cutoff is set by the water-table depth.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This is what ELM alone cannot represent: its bucket aquifer has no travel time. The two models now answer the question jointly — ELM partitions the surface water, PFLOTRAN carries it to the water table.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0F172A"/>
                </a:solidFill>
              </a:rPr>
              <a:t>Case 4 — Naches groundwater (PFLOTRAN)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7286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question:  </a:t>
            </a:r>
            <a:r>
              <a:rPr sz="1500">
                <a:solidFill>
                  <a:srgbClr val="0F172A"/>
                </a:solidFill>
              </a:rPr>
              <a:t>How different are the groundwater dynamics across the Naches — same recharge everywhere, only the subsurface varies?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model:  </a:t>
            </a:r>
            <a:r>
              <a:rPr sz="1500">
                <a:solidFill>
                  <a:srgbClr val="0F172A"/>
                </a:solidFill>
              </a:rPr>
              <a:t>PFLOTRAN 1-D RICHARDS (standalone — no ELM)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scenarios:  </a:t>
            </a:r>
            <a:r>
              <a:rPr sz="1500">
                <a:solidFill>
                  <a:srgbClr val="0F172A"/>
                </a:solidFill>
              </a:rPr>
              <a:t>steady uniform recharge 30/100/300 mm/yr — a controlled experiment: only the subsurface varies</a:t>
            </a:r>
          </a:p>
          <a:p>
            <a:pPr>
              <a:spcAft>
                <a:spcPts val="600"/>
              </a:spcAft>
            </a:pPr>
            <a:r>
              <a:rPr b="1" sz="1500">
                <a:solidFill>
                  <a:srgbClr val="2C7FB8"/>
                </a:solidFill>
              </a:rPr>
              <a:t>execution:  </a:t>
            </a:r>
            <a:r>
              <a:rPr sz="1500">
                <a:solidFill>
                  <a:srgbClr val="0F172A"/>
                </a:solidFill>
              </a:rPr>
              <a:t>20 columns × 3 scenarios = 60 serial runs, ~0.5 s each, login node — no batch queue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sampling design (same columns as the ELM studies)</a:t>
            </a:r>
          </a:p>
        </p:txBody>
      </p:sp>
      <p:pic>
        <p:nvPicPr>
          <p:cNvPr id="3" name="Picture 2" descr="sampling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101346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profiles &amp; water tables (100 mm/yr)</a:t>
            </a:r>
          </a:p>
        </p:txBody>
      </p:sp>
      <p:pic>
        <p:nvPicPr>
          <p:cNvPr id="3" name="Picture 2" descr="pflotran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409079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scenario sweep — the dynamics</a:t>
            </a:r>
          </a:p>
        </p:txBody>
      </p:sp>
      <p:pic>
        <p:nvPicPr>
          <p:cNvPr id="3" name="Picture 2" descr="pflotran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389758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driver → response relations (controls: water table + soil)</a:t>
            </a:r>
          </a:p>
        </p:txBody>
      </p:sp>
      <p:pic>
        <p:nvPicPr>
          <p:cNvPr id="3" name="Picture 2" descr="pflotran_re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34440"/>
            <a:ext cx="10332720" cy="65495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Naches groundwater (PFLOTRAN) —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Uniform steady recharge (30/100/300 mm/yr) on all 20 columns — every difference below is subsurface structure, not climate.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Vadose-zone wetness spans 0.32–0.97 at the same forcing — soil layering and water-table depth set the baseline, not recharge.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Most climate-sensitive: col_01 (Δsat +0.22, Fan WTD 61.5 m); least: col_09 (Δsat +0.00, Fan WTD 0.2 m) — deep unsaturated zones buffer recharge changes; shallow water tables pin the profile.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6 ridge columns keep their water table below the capped 50 m domain at every rate (Fan says 61–215 m there) — honestly flagged, not simulated.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Water tables are held by the bottom boundary (pinned at the Fan prior), so this sweep isolates the UNSATURATED-zone response; transient forcing and a free water table are the ELM-coupling phase.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</a:rPr>
              <a:t>•  Strongest controls (|r|≥0.5): Δsat (300−30) vs log10 Fan WTD (m) (r=+0.93) · vadose sat @100 mm/yr vs log10 Fan WTD (m) (r=-0.70) · surface sat @100 vs log10 Fan WTD (m) (r=-0.54) — elevation matters only where it proxies the water table (no orographic forcing exists in this design, unlike the ELM/NLDAS studies).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Cross-study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same framework, three experiments — the control on recharge/runoff partitioning depends on climate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097280"/>
                <a:gridCol w="1828800"/>
                <a:gridCol w="2011680"/>
                <a:gridCol w="3383280"/>
              </a:tblGrid>
              <a:tr h="457200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forcing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recharge (mm/yr)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strongest control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-3.6 → 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Naches — Fan warm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459, 474, 509, 611, 619, 682, 699, 727, 735, 793, 941, 975, 1153, 1361, 1580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-84.8 → 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772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wet basin:  </a:t>
            </a:r>
            <a:r>
              <a:rPr sz="1400">
                <a:solidFill>
                  <a:srgbClr val="0F172A"/>
                </a:solidFill>
              </a:rPr>
              <a:t>recharge is CLAY-limited — water is ample; the impeding layer decides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dry basin:  </a:t>
            </a:r>
            <a:r>
              <a:rPr sz="1400">
                <a:solidFill>
                  <a:srgbClr val="0F172A"/>
                </a:solidFill>
              </a:rPr>
              <a:t>recharge is Ksat-limited (threshold) — only the most permeable soil recharges</a:t>
            </a:r>
          </a:p>
          <a:p>
            <a:pPr>
              <a:spcAft>
                <a:spcPts val="600"/>
              </a:spcAft>
            </a:pPr>
            <a:r>
              <a:rPr b="1" sz="1400">
                <a:solidFill>
                  <a:srgbClr val="2C7FB8"/>
                </a:solidFill>
              </a:rPr>
              <a:t>controlled sweep:  </a:t>
            </a:r>
            <a:r>
              <a:rPr sz="1400">
                <a:solidFill>
                  <a:srgbClr val="0F172A"/>
                </a:solidFill>
              </a:rPr>
              <a:t>confirms causality: clay 5→55% collapses recharge 755→9 mm/yr with everything else fixed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A1 — Naches: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291.2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8.74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38.9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A2 — Naches — Fan warm start: columns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characteristics from the real data (SSURGO soil, Fan 2013 WTD, NLDAS-2 (0.125°, ~12 km) forcing) · results are annual means (mm/yr)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25880"/>
          <a:ext cx="11460175" cy="8065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4"/>
                <a:gridCol w="1041835"/>
              </a:tblGrid>
              <a:tr h="384048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top soil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clay%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Ksat µm/s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precip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runoff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rech.frac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ZWT m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28.80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-84.8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-1.15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486.1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4.05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3.94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900.2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3.60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338.8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19.98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478.4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27.68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412.7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516.8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863.2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344.4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3.56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634.9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27.50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26.38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722.6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27.19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sandy 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1283.2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20.18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loam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1153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281.3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3.78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P1 — Naches groundwater — ELM-coupled: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517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flux annual mm 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lag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attenuation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841.90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259.70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1897.00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264.90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28.00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1011.10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1320.80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1551.00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981.00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951.70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267.90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271.10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1735.50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345.20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996.20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1761.00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0F172A"/>
                </a:solidFill>
              </a:rPr>
              <a:t>Appendix P2 — Naches groundwater (PFLOTRAN): columns &amp; scenario wetness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</a:rPr>
              <a:t>vadose-zone mean saturation per recharge rate · WTD from the hydrostatic prior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elev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Fan WTD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domain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wtd final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sat r300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0.90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34.81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0.99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35.16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145.0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195.5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1792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22.63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0.82</a:t>
                      </a:r>
                    </a:p>
                  </a:txBody>
                  <a:tcPr/>
                </a:tc>
              </a:tr>
              <a:tr h="237744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col_17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